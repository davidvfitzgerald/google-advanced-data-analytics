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57"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378" y="58"/>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1e3a6309cc6_3_31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1e3a6309cc6_3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96"/>
        <p:cNvGrpSpPr/>
        <p:nvPr/>
      </p:nvGrpSpPr>
      <p:grpSpPr>
        <a:xfrm>
          <a:off x="0" y="0"/>
          <a:ext cx="0" cy="0"/>
          <a:chOff x="0" y="0"/>
          <a:chExt cx="0" cy="0"/>
        </a:xfrm>
      </p:grpSpPr>
      <p:grpSp>
        <p:nvGrpSpPr>
          <p:cNvPr id="197" name="Google Shape;197;p9"/>
          <p:cNvGrpSpPr/>
          <p:nvPr/>
        </p:nvGrpSpPr>
        <p:grpSpPr>
          <a:xfrm>
            <a:off x="172055" y="1468890"/>
            <a:ext cx="7434543" cy="62982"/>
            <a:chOff x="1890075" y="5241175"/>
            <a:chExt cx="4240556" cy="257700"/>
          </a:xfrm>
        </p:grpSpPr>
        <p:sp>
          <p:nvSpPr>
            <p:cNvPr id="198" name="Google Shape;19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9" name="Google Shape;19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0" name="Google Shape;20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1" name="Google Shape;20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02" name="Google Shape;20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203" name="Google Shape;203;p9"/>
          <p:cNvGrpSpPr/>
          <p:nvPr/>
        </p:nvGrpSpPr>
        <p:grpSpPr>
          <a:xfrm>
            <a:off x="168930" y="2702615"/>
            <a:ext cx="7434543" cy="62982"/>
            <a:chOff x="1890075" y="5241175"/>
            <a:chExt cx="4240556" cy="257700"/>
          </a:xfrm>
        </p:grpSpPr>
        <p:sp>
          <p:nvSpPr>
            <p:cNvPr id="204" name="Google Shape;20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5" name="Google Shape;20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6" name="Google Shape;20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7" name="Google Shape;20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08" name="Google Shape;208;p9"/>
          <p:cNvCxnSpPr>
            <a:stCxn id="19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09" name="Google Shape;20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10" name="Google Shape;210;p9"/>
          <p:cNvGrpSpPr/>
          <p:nvPr/>
        </p:nvGrpSpPr>
        <p:grpSpPr>
          <a:xfrm>
            <a:off x="0" y="3413775"/>
            <a:ext cx="3530025" cy="746350"/>
            <a:chOff x="0" y="3156075"/>
            <a:chExt cx="3530025" cy="746350"/>
          </a:xfrm>
        </p:grpSpPr>
        <p:sp>
          <p:nvSpPr>
            <p:cNvPr id="211" name="Google Shape;21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2" name="Google Shape;21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3" name="Google Shape;213;p9"/>
          <p:cNvGrpSpPr/>
          <p:nvPr/>
        </p:nvGrpSpPr>
        <p:grpSpPr>
          <a:xfrm>
            <a:off x="3248850" y="2867100"/>
            <a:ext cx="4936034" cy="746350"/>
            <a:chOff x="0" y="3156075"/>
            <a:chExt cx="3530025" cy="746350"/>
          </a:xfrm>
        </p:grpSpPr>
        <p:sp>
          <p:nvSpPr>
            <p:cNvPr id="214" name="Google Shape;21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5" name="Google Shape;21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6" name="Google Shape;216;p9"/>
          <p:cNvGrpSpPr/>
          <p:nvPr/>
        </p:nvGrpSpPr>
        <p:grpSpPr>
          <a:xfrm>
            <a:off x="3248850" y="7166275"/>
            <a:ext cx="4936034" cy="746350"/>
            <a:chOff x="0" y="3156075"/>
            <a:chExt cx="3530025" cy="746350"/>
          </a:xfrm>
        </p:grpSpPr>
        <p:sp>
          <p:nvSpPr>
            <p:cNvPr id="217" name="Google Shape;21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8" name="Google Shape;21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19" name="Google Shape;21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20" name="Google Shape;22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21" name="Google Shape;22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22" name="Google Shape;222;p9"/>
          <p:cNvGrpSpPr/>
          <p:nvPr/>
        </p:nvGrpSpPr>
        <p:grpSpPr>
          <a:xfrm>
            <a:off x="172055" y="1468890"/>
            <a:ext cx="7434543" cy="62982"/>
            <a:chOff x="1890075" y="5241175"/>
            <a:chExt cx="4240556" cy="257700"/>
          </a:xfrm>
        </p:grpSpPr>
        <p:sp>
          <p:nvSpPr>
            <p:cNvPr id="223" name="Google Shape;223;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4" name="Google Shape;224;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5" name="Google Shape;225;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6" name="Google Shape;226;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27" name="Google Shape;227;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228" name="Google Shape;228;p9"/>
          <p:cNvGrpSpPr/>
          <p:nvPr/>
        </p:nvGrpSpPr>
        <p:grpSpPr>
          <a:xfrm>
            <a:off x="168930" y="2702615"/>
            <a:ext cx="7434543" cy="62982"/>
            <a:chOff x="1890075" y="5241175"/>
            <a:chExt cx="4240556" cy="257700"/>
          </a:xfrm>
        </p:grpSpPr>
        <p:sp>
          <p:nvSpPr>
            <p:cNvPr id="229" name="Google Shape;229;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0" name="Google Shape;230;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1" name="Google Shape;231;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2" name="Google Shape;232;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233" name="Google Shape;233;p9"/>
          <p:cNvCxnSpPr>
            <a:stCxn id="223"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4" name="Google Shape;234;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35" name="Google Shape;235;p9"/>
          <p:cNvGrpSpPr/>
          <p:nvPr/>
        </p:nvGrpSpPr>
        <p:grpSpPr>
          <a:xfrm>
            <a:off x="0" y="3413775"/>
            <a:ext cx="3530025" cy="746350"/>
            <a:chOff x="0" y="3156075"/>
            <a:chExt cx="3530025" cy="746350"/>
          </a:xfrm>
        </p:grpSpPr>
        <p:sp>
          <p:nvSpPr>
            <p:cNvPr id="236" name="Google Shape;236;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7" name="Google Shape;237;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8" name="Google Shape;238;p9"/>
          <p:cNvGrpSpPr/>
          <p:nvPr/>
        </p:nvGrpSpPr>
        <p:grpSpPr>
          <a:xfrm>
            <a:off x="3248850" y="2867100"/>
            <a:ext cx="4936034" cy="746350"/>
            <a:chOff x="0" y="3156075"/>
            <a:chExt cx="3530025" cy="746350"/>
          </a:xfrm>
        </p:grpSpPr>
        <p:sp>
          <p:nvSpPr>
            <p:cNvPr id="239" name="Google Shape;239;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0" name="Google Shape;240;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41" name="Google Shape;241;p9"/>
          <p:cNvGrpSpPr/>
          <p:nvPr/>
        </p:nvGrpSpPr>
        <p:grpSpPr>
          <a:xfrm>
            <a:off x="3248850" y="7166275"/>
            <a:ext cx="4936034" cy="746350"/>
            <a:chOff x="0" y="3156075"/>
            <a:chExt cx="3530025" cy="746350"/>
          </a:xfrm>
        </p:grpSpPr>
        <p:sp>
          <p:nvSpPr>
            <p:cNvPr id="242" name="Google Shape;242;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3" name="Google Shape;243;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44" name="Google Shape;244;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5" name="Google Shape;245;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6" name="Google Shape;246;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7" name="Google Shape;247;p9"/>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17"/>
          <p:cNvSpPr txBox="1"/>
          <p:nvPr/>
        </p:nvSpPr>
        <p:spPr>
          <a:xfrm>
            <a:off x="188700" y="1533300"/>
            <a:ext cx="3697500" cy="2850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SzPts val="852"/>
              <a:buNone/>
            </a:pPr>
            <a:r>
              <a:rPr lang="en" sz="1375">
                <a:latin typeface="Google Sans SemiBold"/>
                <a:ea typeface="Google Sans SemiBold"/>
                <a:cs typeface="Google Sans SemiBold"/>
                <a:sym typeface="Google Sans SemiBold"/>
              </a:rPr>
              <a:t>Project Overview</a:t>
            </a:r>
            <a:endParaRPr sz="1375">
              <a:solidFill>
                <a:srgbClr val="000000"/>
              </a:solidFill>
              <a:latin typeface="Google Sans SemiBold"/>
              <a:ea typeface="Google Sans SemiBold"/>
              <a:cs typeface="Google Sans SemiBold"/>
              <a:sym typeface="Google Sans SemiBold"/>
            </a:endParaRPr>
          </a:p>
        </p:txBody>
      </p:sp>
      <p:sp>
        <p:nvSpPr>
          <p:cNvPr id="421" name="Google Shape;421;p17"/>
          <p:cNvSpPr txBox="1"/>
          <p:nvPr/>
        </p:nvSpPr>
        <p:spPr>
          <a:xfrm>
            <a:off x="287625" y="1859125"/>
            <a:ext cx="7309500" cy="8309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dirty="0">
                <a:solidFill>
                  <a:schemeClr val="dk2"/>
                </a:solidFill>
              </a:rPr>
              <a:t>An EDA was performed on the yellow taxi trip data to investigate the different variables and identify any potential data issues to address before proceeding with the modelling step.</a:t>
            </a:r>
            <a:endParaRPr dirty="0">
              <a:solidFill>
                <a:schemeClr val="dk2"/>
              </a:solidFill>
            </a:endParaRPr>
          </a:p>
        </p:txBody>
      </p:sp>
      <p:grpSp>
        <p:nvGrpSpPr>
          <p:cNvPr id="424" name="Google Shape;424;p17"/>
          <p:cNvGrpSpPr/>
          <p:nvPr/>
        </p:nvGrpSpPr>
        <p:grpSpPr>
          <a:xfrm>
            <a:off x="188700" y="665125"/>
            <a:ext cx="5190000" cy="771300"/>
            <a:chOff x="188700" y="665125"/>
            <a:chExt cx="5190000" cy="771300"/>
          </a:xfrm>
        </p:grpSpPr>
        <p:sp>
          <p:nvSpPr>
            <p:cNvPr id="425" name="Google Shape;425;p17"/>
            <p:cNvSpPr txBox="1"/>
            <p:nvPr/>
          </p:nvSpPr>
          <p:spPr>
            <a:xfrm>
              <a:off x="188700" y="665125"/>
              <a:ext cx="5190000" cy="771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en" sz="1600" b="1" dirty="0">
                  <a:latin typeface="Google Sans SemiBold"/>
                  <a:ea typeface="Google Sans SemiBold"/>
                  <a:cs typeface="Google Sans SemiBold"/>
                  <a:sym typeface="Google Sans SemiBold"/>
                </a:rPr>
                <a:t>EDA of yellow taxi trip data</a:t>
              </a:r>
              <a:endParaRPr sz="1900" dirty="0">
                <a:solidFill>
                  <a:srgbClr val="000000"/>
                </a:solidFill>
                <a:latin typeface="Google Sans SemiBold"/>
                <a:ea typeface="Google Sans SemiBold"/>
                <a:cs typeface="Google Sans SemiBold"/>
                <a:sym typeface="Google Sans SemiBold"/>
              </a:endParaRPr>
            </a:p>
          </p:txBody>
        </p:sp>
        <p:sp>
          <p:nvSpPr>
            <p:cNvPr id="426" name="Google Shape;426;p17"/>
            <p:cNvSpPr txBox="1"/>
            <p:nvPr/>
          </p:nvSpPr>
          <p:spPr>
            <a:xfrm>
              <a:off x="188700" y="1036225"/>
              <a:ext cx="404802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dirty="0">
                  <a:latin typeface="Roboto"/>
                  <a:ea typeface="Roboto"/>
                  <a:cs typeface="Roboto"/>
                  <a:sym typeface="Roboto"/>
                </a:rPr>
                <a:t>A detailed analysis of the yellow taxi trip data</a:t>
              </a:r>
              <a:endParaRPr dirty="0">
                <a:solidFill>
                  <a:srgbClr val="000000"/>
                </a:solidFill>
                <a:latin typeface="Roboto"/>
                <a:ea typeface="Roboto"/>
                <a:cs typeface="Roboto"/>
                <a:sym typeface="Roboto"/>
              </a:endParaRPr>
            </a:p>
          </p:txBody>
        </p:sp>
      </p:grpSp>
      <p:pic>
        <p:nvPicPr>
          <p:cNvPr id="3" name="Content Placeholder 4" descr="A graph with blue and orange dots&#10;&#10;AI-generated content may be incorrect.">
            <a:extLst>
              <a:ext uri="{FF2B5EF4-FFF2-40B4-BE49-F238E27FC236}">
                <a16:creationId xmlns:a16="http://schemas.microsoft.com/office/drawing/2014/main" id="{09A1CE5A-A2F8-FCB4-2C88-A9A52402B8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7585" y="3359040"/>
            <a:ext cx="2948039" cy="2913599"/>
          </a:xfrm>
          <a:prstGeom prst="rect">
            <a:avLst/>
          </a:prstGeom>
        </p:spPr>
      </p:pic>
      <p:sp>
        <p:nvSpPr>
          <p:cNvPr id="4" name="Google Shape;421;p17">
            <a:extLst>
              <a:ext uri="{FF2B5EF4-FFF2-40B4-BE49-F238E27FC236}">
                <a16:creationId xmlns:a16="http://schemas.microsoft.com/office/drawing/2014/main" id="{F279925B-6E96-14A0-D9F3-C6B30EF64A86}"/>
              </a:ext>
            </a:extLst>
          </p:cNvPr>
          <p:cNvSpPr txBox="1"/>
          <p:nvPr/>
        </p:nvSpPr>
        <p:spPr>
          <a:xfrm>
            <a:off x="188700" y="3929694"/>
            <a:ext cx="2948039" cy="4970561"/>
          </a:xfrm>
          <a:prstGeom prst="rect">
            <a:avLst/>
          </a:prstGeom>
          <a:noFill/>
          <a:ln>
            <a:noFill/>
          </a:ln>
        </p:spPr>
        <p:txBody>
          <a:bodyPr spcFirstLastPara="1" wrap="square" lIns="91425" tIns="91425" rIns="91425" bIns="91425" anchor="t" anchorCtr="0">
            <a:spAutoFit/>
          </a:bodyPr>
          <a:lstStyle/>
          <a:p>
            <a:pPr marL="285750" lvl="0" indent="-285750" algn="l" rtl="0">
              <a:spcBef>
                <a:spcPts val="0"/>
              </a:spcBef>
              <a:spcAft>
                <a:spcPts val="600"/>
              </a:spcAft>
              <a:buClr>
                <a:srgbClr val="595959"/>
              </a:buClr>
              <a:buFont typeface="Wingdings" panose="05000000000000000000" pitchFamily="2" charset="2"/>
              <a:buChar char="§"/>
            </a:pPr>
            <a:r>
              <a:rPr lang="en-GB" sz="1200" dirty="0">
                <a:solidFill>
                  <a:schemeClr val="dk2"/>
                </a:solidFill>
              </a:rPr>
              <a:t>The dataset contains the key variables that are relevant for modelling the taxi fare amount</a:t>
            </a:r>
          </a:p>
          <a:p>
            <a:pPr marL="285750" lvl="0" indent="-285750" algn="l" rtl="0">
              <a:spcBef>
                <a:spcPts val="0"/>
              </a:spcBef>
              <a:spcAft>
                <a:spcPts val="600"/>
              </a:spcAft>
              <a:buClr>
                <a:srgbClr val="595959"/>
              </a:buClr>
              <a:buFont typeface="Wingdings" panose="05000000000000000000" pitchFamily="2" charset="2"/>
              <a:buChar char="§"/>
            </a:pPr>
            <a:r>
              <a:rPr lang="en-GB" sz="1200" dirty="0">
                <a:solidFill>
                  <a:schemeClr val="dk2"/>
                </a:solidFill>
              </a:rPr>
              <a:t>The dataset contains no missing values, nor duplicates</a:t>
            </a:r>
          </a:p>
          <a:p>
            <a:pPr marL="285750" lvl="0" indent="-285750" algn="l" rtl="0">
              <a:spcBef>
                <a:spcPts val="0"/>
              </a:spcBef>
              <a:spcAft>
                <a:spcPts val="0"/>
              </a:spcAft>
              <a:buClr>
                <a:srgbClr val="595959"/>
              </a:buClr>
              <a:buFont typeface="Wingdings" panose="05000000000000000000" pitchFamily="2" charset="2"/>
              <a:buChar char="§"/>
            </a:pPr>
            <a:r>
              <a:rPr lang="en-GB" sz="1200" dirty="0">
                <a:solidFill>
                  <a:schemeClr val="dk2"/>
                </a:solidFill>
              </a:rPr>
              <a:t>Some potential data issues were identified:</a:t>
            </a:r>
          </a:p>
          <a:p>
            <a:pPr marL="432000" lvl="0" indent="-285750" algn="l" rtl="0">
              <a:spcBef>
                <a:spcPts val="0"/>
              </a:spcBef>
              <a:spcAft>
                <a:spcPts val="0"/>
              </a:spcAft>
              <a:buClr>
                <a:srgbClr val="595959"/>
              </a:buClr>
              <a:buFont typeface="Arial" panose="020B0604020202020204" pitchFamily="34" charset="0"/>
              <a:buChar char="•"/>
            </a:pPr>
            <a:r>
              <a:rPr lang="en-GB" sz="1100" dirty="0">
                <a:solidFill>
                  <a:schemeClr val="dk2"/>
                </a:solidFill>
              </a:rPr>
              <a:t>148 trip distances with amount 0</a:t>
            </a:r>
          </a:p>
          <a:p>
            <a:pPr marL="432000" lvl="0" indent="-285750" algn="l" rtl="0">
              <a:spcBef>
                <a:spcPts val="0"/>
              </a:spcBef>
              <a:spcAft>
                <a:spcPts val="0"/>
              </a:spcAft>
              <a:buClr>
                <a:srgbClr val="595959"/>
              </a:buClr>
              <a:buFont typeface="Arial" panose="020B0604020202020204" pitchFamily="34" charset="0"/>
              <a:buChar char="•"/>
            </a:pPr>
            <a:r>
              <a:rPr lang="en-GB" sz="1100" dirty="0">
                <a:solidFill>
                  <a:schemeClr val="dk2"/>
                </a:solidFill>
              </a:rPr>
              <a:t>20 negative or 0 fare amounts</a:t>
            </a:r>
          </a:p>
          <a:p>
            <a:pPr marL="432000" lvl="0" indent="-285750" algn="l" rtl="0">
              <a:spcBef>
                <a:spcPts val="0"/>
              </a:spcBef>
              <a:spcAft>
                <a:spcPts val="0"/>
              </a:spcAft>
              <a:buClr>
                <a:srgbClr val="595959"/>
              </a:buClr>
              <a:buFont typeface="Arial" panose="020B0604020202020204" pitchFamily="34" charset="0"/>
              <a:buChar char="•"/>
            </a:pPr>
            <a:r>
              <a:rPr lang="en-GB" sz="1100" dirty="0">
                <a:solidFill>
                  <a:schemeClr val="dk2"/>
                </a:solidFill>
              </a:rPr>
              <a:t>33 records with passenger count of 0</a:t>
            </a:r>
          </a:p>
          <a:p>
            <a:pPr marL="432000" lvl="0" indent="-285750" algn="l" rtl="0">
              <a:spcBef>
                <a:spcPts val="0"/>
              </a:spcBef>
              <a:spcAft>
                <a:spcPts val="0"/>
              </a:spcAft>
              <a:buClr>
                <a:srgbClr val="595959"/>
              </a:buClr>
              <a:buFont typeface="Arial" panose="020B0604020202020204" pitchFamily="34" charset="0"/>
              <a:buChar char="•"/>
            </a:pPr>
            <a:r>
              <a:rPr lang="en-GB" sz="1100" dirty="0">
                <a:solidFill>
                  <a:schemeClr val="dk2"/>
                </a:solidFill>
              </a:rPr>
              <a:t>One extreme fare amount</a:t>
            </a:r>
          </a:p>
          <a:p>
            <a:pPr marL="432000" lvl="0" indent="-285750">
              <a:buClr>
                <a:srgbClr val="595959"/>
              </a:buClr>
              <a:buFont typeface="Arial" panose="020B0604020202020204" pitchFamily="34" charset="0"/>
              <a:buChar char="•"/>
            </a:pPr>
            <a:r>
              <a:rPr lang="en-GB" sz="1100" dirty="0">
                <a:solidFill>
                  <a:schemeClr val="dk2"/>
                </a:solidFill>
              </a:rPr>
              <a:t>All records with </a:t>
            </a:r>
            <a:r>
              <a:rPr lang="en-GB" sz="1100" dirty="0" err="1">
                <a:solidFill>
                  <a:schemeClr val="dk2"/>
                </a:solidFill>
              </a:rPr>
              <a:t>RateCodeID</a:t>
            </a:r>
            <a:r>
              <a:rPr lang="en-GB" sz="1100" dirty="0">
                <a:solidFill>
                  <a:schemeClr val="dk2"/>
                </a:solidFill>
              </a:rPr>
              <a:t> 2 have the same fare amount (is that justified?)</a:t>
            </a:r>
          </a:p>
          <a:p>
            <a:pPr lvl="0">
              <a:buClr>
                <a:srgbClr val="595959"/>
              </a:buClr>
            </a:pPr>
            <a:endParaRPr lang="en-GB" sz="1200" dirty="0">
              <a:solidFill>
                <a:schemeClr val="dk2"/>
              </a:solidFill>
            </a:endParaRPr>
          </a:p>
          <a:p>
            <a:pPr marL="171450" lvl="0" indent="-171450">
              <a:spcAft>
                <a:spcPts val="600"/>
              </a:spcAft>
              <a:buClr>
                <a:srgbClr val="595959"/>
              </a:buClr>
              <a:buFont typeface="Wingdings" panose="05000000000000000000" pitchFamily="2" charset="2"/>
              <a:buChar char="§"/>
            </a:pPr>
            <a:r>
              <a:rPr lang="en-GB" sz="1200" b="1" dirty="0">
                <a:solidFill>
                  <a:schemeClr val="dk2"/>
                </a:solidFill>
              </a:rPr>
              <a:t>The fare amount is positively correlated with the trip distance</a:t>
            </a:r>
          </a:p>
          <a:p>
            <a:pPr marL="171450" lvl="0" indent="-171450">
              <a:spcAft>
                <a:spcPts val="600"/>
              </a:spcAft>
              <a:buClr>
                <a:srgbClr val="595959"/>
              </a:buClr>
              <a:buFont typeface="Wingdings" panose="05000000000000000000" pitchFamily="2" charset="2"/>
              <a:buChar char="§"/>
            </a:pPr>
            <a:r>
              <a:rPr lang="en-GB" sz="1200" dirty="0">
                <a:solidFill>
                  <a:schemeClr val="dk2"/>
                </a:solidFill>
              </a:rPr>
              <a:t>The tip amount is not influenced by the vendor or passenger count</a:t>
            </a:r>
          </a:p>
          <a:p>
            <a:pPr marL="171450" lvl="0" indent="-171450">
              <a:spcAft>
                <a:spcPts val="600"/>
              </a:spcAft>
              <a:buClr>
                <a:srgbClr val="595959"/>
              </a:buClr>
              <a:buFont typeface="Wingdings" panose="05000000000000000000" pitchFamily="2" charset="2"/>
              <a:buChar char="§"/>
            </a:pPr>
            <a:r>
              <a:rPr lang="en-GB" sz="1200" dirty="0">
                <a:solidFill>
                  <a:schemeClr val="dk2"/>
                </a:solidFill>
              </a:rPr>
              <a:t>The number of rides changes over the months and the days of week (Wednesday to Friday are the busiest)</a:t>
            </a:r>
          </a:p>
          <a:p>
            <a:pPr marL="171450" lvl="0" indent="-171450">
              <a:spcAft>
                <a:spcPts val="600"/>
              </a:spcAft>
              <a:buClr>
                <a:srgbClr val="595959"/>
              </a:buClr>
              <a:buFont typeface="Wingdings" panose="05000000000000000000" pitchFamily="2" charset="2"/>
              <a:buChar char="§"/>
            </a:pPr>
            <a:r>
              <a:rPr lang="en-GB" sz="1200" dirty="0">
                <a:solidFill>
                  <a:schemeClr val="dk2"/>
                </a:solidFill>
              </a:rPr>
              <a:t>The sum of all total fare amounts is highest on Thursday</a:t>
            </a:r>
          </a:p>
        </p:txBody>
      </p:sp>
      <p:sp>
        <p:nvSpPr>
          <p:cNvPr id="6" name="Google Shape;421;p17">
            <a:extLst>
              <a:ext uri="{FF2B5EF4-FFF2-40B4-BE49-F238E27FC236}">
                <a16:creationId xmlns:a16="http://schemas.microsoft.com/office/drawing/2014/main" id="{F2C5D61E-F54B-F4B6-2811-19B2B844502B}"/>
              </a:ext>
            </a:extLst>
          </p:cNvPr>
          <p:cNvSpPr txBox="1"/>
          <p:nvPr/>
        </p:nvSpPr>
        <p:spPr>
          <a:xfrm>
            <a:off x="3320339" y="6196439"/>
            <a:ext cx="4276785" cy="1000244"/>
          </a:xfrm>
          <a:prstGeom prst="rect">
            <a:avLst/>
          </a:prstGeom>
          <a:noFill/>
          <a:ln>
            <a:noFill/>
          </a:ln>
        </p:spPr>
        <p:txBody>
          <a:bodyPr spcFirstLastPara="1" wrap="square" lIns="91425" tIns="91425" rIns="91425" bIns="91425" anchor="t" anchorCtr="0">
            <a:spAutoFit/>
          </a:bodyPr>
          <a:lstStyle/>
          <a:p>
            <a:pPr lvl="0" algn="l" rtl="0">
              <a:spcBef>
                <a:spcPts val="0"/>
              </a:spcBef>
              <a:spcAft>
                <a:spcPts val="600"/>
              </a:spcAft>
              <a:buClr>
                <a:srgbClr val="595959"/>
              </a:buClr>
            </a:pPr>
            <a:r>
              <a:rPr lang="en-GB" sz="1200" dirty="0">
                <a:solidFill>
                  <a:schemeClr val="dk2"/>
                </a:solidFill>
              </a:rPr>
              <a:t>The figure above shows the relationship between the trip distance and total fare amount. The points in orange correspond to records where the trip distance is 0, but the total amount is a positive number.</a:t>
            </a:r>
          </a:p>
        </p:txBody>
      </p:sp>
      <p:sp>
        <p:nvSpPr>
          <p:cNvPr id="7" name="Google Shape;421;p17">
            <a:extLst>
              <a:ext uri="{FF2B5EF4-FFF2-40B4-BE49-F238E27FC236}">
                <a16:creationId xmlns:a16="http://schemas.microsoft.com/office/drawing/2014/main" id="{560EB12D-3309-4F08-964D-A29EAD03B45F}"/>
              </a:ext>
            </a:extLst>
          </p:cNvPr>
          <p:cNvSpPr txBox="1"/>
          <p:nvPr/>
        </p:nvSpPr>
        <p:spPr>
          <a:xfrm>
            <a:off x="3320340" y="7699153"/>
            <a:ext cx="4276784" cy="1708130"/>
          </a:xfrm>
          <a:prstGeom prst="rect">
            <a:avLst/>
          </a:prstGeom>
          <a:noFill/>
          <a:ln>
            <a:noFill/>
          </a:ln>
        </p:spPr>
        <p:txBody>
          <a:bodyPr spcFirstLastPara="1" wrap="square" lIns="91425" tIns="91425" rIns="91425" bIns="91425" anchor="t" anchorCtr="0">
            <a:spAutoFit/>
          </a:bodyPr>
          <a:lstStyle/>
          <a:p>
            <a:pPr lvl="0" algn="l" rtl="0">
              <a:spcBef>
                <a:spcPts val="0"/>
              </a:spcBef>
              <a:spcAft>
                <a:spcPts val="600"/>
              </a:spcAft>
              <a:buClr>
                <a:srgbClr val="595959"/>
              </a:buClr>
            </a:pPr>
            <a:r>
              <a:rPr lang="en-GB" sz="1200" dirty="0">
                <a:solidFill>
                  <a:schemeClr val="dk2"/>
                </a:solidFill>
              </a:rPr>
              <a:t>The records that contain potential issues should be removed before proceeding with the modelling step. </a:t>
            </a:r>
          </a:p>
          <a:p>
            <a:pPr lvl="0" algn="l" rtl="0">
              <a:spcBef>
                <a:spcPts val="0"/>
              </a:spcBef>
              <a:spcAft>
                <a:spcPts val="600"/>
              </a:spcAft>
              <a:buClr>
                <a:srgbClr val="595959"/>
              </a:buClr>
            </a:pPr>
            <a:r>
              <a:rPr lang="en-GB" sz="1200" dirty="0">
                <a:solidFill>
                  <a:schemeClr val="dk2"/>
                </a:solidFill>
              </a:rPr>
              <a:t>The reason why the records with </a:t>
            </a:r>
            <a:r>
              <a:rPr lang="en-GB" sz="1200" dirty="0" err="1">
                <a:solidFill>
                  <a:schemeClr val="dk2"/>
                </a:solidFill>
              </a:rPr>
              <a:t>RateCodeID</a:t>
            </a:r>
            <a:r>
              <a:rPr lang="en-GB" sz="1200" dirty="0">
                <a:solidFill>
                  <a:schemeClr val="dk2"/>
                </a:solidFill>
              </a:rPr>
              <a:t> 2 have all the same fare amount should be investigated further before deciding whether to keep them or not.</a:t>
            </a:r>
          </a:p>
          <a:p>
            <a:pPr lvl="0" algn="l" rtl="0">
              <a:spcBef>
                <a:spcPts val="0"/>
              </a:spcBef>
              <a:spcAft>
                <a:spcPts val="600"/>
              </a:spcAft>
              <a:buClr>
                <a:srgbClr val="595959"/>
              </a:buClr>
            </a:pPr>
            <a:r>
              <a:rPr lang="en-GB" sz="1200" dirty="0">
                <a:solidFill>
                  <a:schemeClr val="dk2"/>
                </a:solidFill>
              </a:rPr>
              <a:t>Once that is done, a data filtering step can be implemented to generate the dataset that is ready for modelling.</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273</Words>
  <Application>Microsoft Office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vt:i4>
      </vt:variant>
    </vt:vector>
  </HeadingPairs>
  <TitlesOfParts>
    <vt:vector size="12" baseType="lpstr">
      <vt:lpstr>Wingdings</vt:lpstr>
      <vt:lpstr>PT Sans Narrow</vt:lpstr>
      <vt:lpstr>Calibri</vt:lpstr>
      <vt:lpstr>Google Sans SemiBold</vt:lpstr>
      <vt:lpstr>Work Sans</vt:lpstr>
      <vt:lpstr>Lato</vt:lpstr>
      <vt:lpstr>Google Sans</vt:lpstr>
      <vt:lpstr>Roboto</vt:lpstr>
      <vt:lpstr>Arial</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FitzGerald</cp:lastModifiedBy>
  <cp:revision>2</cp:revision>
  <dcterms:modified xsi:type="dcterms:W3CDTF">2025-12-08T13:02:06Z</dcterms:modified>
</cp:coreProperties>
</file>