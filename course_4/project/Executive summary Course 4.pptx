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 id="2147483662" r:id="rId2"/>
  </p:sldMasterIdLst>
  <p:notesMasterIdLst>
    <p:notesMasterId r:id="rId4"/>
  </p:notesMasterIdLst>
  <p:sldIdLst>
    <p:sldId id="257" r:id="rId3"/>
  </p:sldIdLst>
  <p:sldSz cx="7772400" cy="10058400"/>
  <p:notesSz cx="6858000" cy="9144000"/>
  <p:embeddedFontLst>
    <p:embeddedFont>
      <p:font typeface="Google Sans" panose="020B0604020202020204" charset="0"/>
      <p:regular r:id="rId5"/>
      <p:bold r:id="rId6"/>
      <p:italic r:id="rId7"/>
      <p:boldItalic r:id="rId8"/>
    </p:embeddedFont>
    <p:embeddedFont>
      <p:font typeface="Google Sans SemiBold" panose="020B0604020202020204" charset="0"/>
      <p:regular r:id="rId9"/>
      <p:bold r:id="rId10"/>
      <p:italic r:id="rId11"/>
      <p:boldItalic r:id="rId12"/>
    </p:embeddedFont>
    <p:embeddedFont>
      <p:font typeface="Lato" panose="020F0502020204030203" pitchFamily="34" charset="0"/>
      <p:regular r:id="rId13"/>
      <p:bold r:id="rId14"/>
      <p:italic r:id="rId15"/>
      <p:boldItalic r:id="rId16"/>
    </p:embeddedFont>
    <p:embeddedFont>
      <p:font typeface="PT Sans Narrow" panose="020B0506020203020204" pitchFamily="34" charset="0"/>
      <p:regular r:id="rId17"/>
      <p:bold r:id="rId18"/>
    </p:embeddedFont>
    <p:embeddedFont>
      <p:font typeface="Roboto" panose="02000000000000000000" pitchFamily="2" charset="0"/>
      <p:regular r:id="rId19"/>
      <p:bold r:id="rId20"/>
      <p:italic r:id="rId21"/>
      <p:boldItalic r:id="rId22"/>
    </p:embeddedFont>
    <p:embeddedFont>
      <p:font typeface="Work Sans"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8464" autoAdjust="0"/>
    <p:restoredTop sz="94660"/>
  </p:normalViewPr>
  <p:slideViewPr>
    <p:cSldViewPr snapToGrid="0">
      <p:cViewPr>
        <p:scale>
          <a:sx n="100" d="100"/>
          <a:sy n="100" d="100"/>
        </p:scale>
        <p:origin x="1982" y="-1651"/>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font" Target="fonts/font14.fntdata"/><Relationship Id="rId26" Type="http://schemas.openxmlformats.org/officeDocument/2006/relationships/font" Target="fonts/font22.fntdata"/><Relationship Id="rId3" Type="http://schemas.openxmlformats.org/officeDocument/2006/relationships/slide" Target="slides/slide1.xml"/><Relationship Id="rId21" Type="http://schemas.openxmlformats.org/officeDocument/2006/relationships/font" Target="fonts/font17.fntdata"/><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font" Target="fonts/font13.fntdata"/><Relationship Id="rId25" Type="http://schemas.openxmlformats.org/officeDocument/2006/relationships/font" Target="fonts/font21.fntdata"/><Relationship Id="rId2" Type="http://schemas.openxmlformats.org/officeDocument/2006/relationships/slideMaster" Target="slideMasters/slideMaster2.xml"/><Relationship Id="rId16" Type="http://schemas.openxmlformats.org/officeDocument/2006/relationships/font" Target="fonts/font12.fntdata"/><Relationship Id="rId20" Type="http://schemas.openxmlformats.org/officeDocument/2006/relationships/font" Target="fonts/font1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font" Target="fonts/font20.fntdata"/><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font" Target="fonts/font19.fntdata"/><Relationship Id="rId28" Type="http://schemas.openxmlformats.org/officeDocument/2006/relationships/viewProps" Target="viewProps.xml"/><Relationship Id="rId10" Type="http://schemas.openxmlformats.org/officeDocument/2006/relationships/font" Target="fonts/font6.fntdata"/><Relationship Id="rId19" Type="http://schemas.openxmlformats.org/officeDocument/2006/relationships/font" Target="fonts/font15.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font" Target="fonts/font1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1e3a6309cc6_3_31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1e3a6309cc6_3_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41" name="Google Shape;41;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48" name="Google Shape;48;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62" name="Google Shape;62;p2"/>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63" name="Google Shape;63;p2"/>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sp>
      <p:sp>
        <p:nvSpPr>
          <p:cNvPr id="64" name="Google Shape;64;p2"/>
          <p:cNvSpPr txBox="1"/>
          <p:nvPr/>
        </p:nvSpPr>
        <p:spPr>
          <a:xfrm>
            <a:off x="4541175" y="5895125"/>
            <a:ext cx="30744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5"/>
        <p:cNvGrpSpPr/>
        <p:nvPr/>
      </p:nvGrpSpPr>
      <p:grpSpPr>
        <a:xfrm>
          <a:off x="0" y="0"/>
          <a:ext cx="0" cy="0"/>
          <a:chOff x="0" y="0"/>
          <a:chExt cx="0" cy="0"/>
        </a:xfrm>
      </p:grpSpPr>
      <p:cxnSp>
        <p:nvCxnSpPr>
          <p:cNvPr id="66" name="Google Shape;66;p3"/>
          <p:cNvCxnSpPr/>
          <p:nvPr/>
        </p:nvCxnSpPr>
        <p:spPr>
          <a:xfrm>
            <a:off x="3049395" y="901911"/>
            <a:ext cx="0" cy="5924400"/>
          </a:xfrm>
          <a:prstGeom prst="straightConnector1">
            <a:avLst/>
          </a:prstGeom>
          <a:noFill/>
          <a:ln w="9525" cap="flat" cmpd="sng">
            <a:solidFill>
              <a:srgbClr val="CCCCCC"/>
            </a:solidFill>
            <a:prstDash val="solid"/>
            <a:round/>
            <a:headEnd type="none" w="med" len="med"/>
            <a:tailEnd type="none" w="med" len="med"/>
          </a:ln>
        </p:spPr>
      </p:cxnSp>
      <p:cxnSp>
        <p:nvCxnSpPr>
          <p:cNvPr id="67" name="Google Shape;67;p3"/>
          <p:cNvCxnSpPr>
            <a:stCxn id="68" idx="0"/>
          </p:cNvCxnSpPr>
          <p:nvPr/>
        </p:nvCxnSpPr>
        <p:spPr>
          <a:xfrm flipH="1">
            <a:off x="172045" y="903711"/>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69" name="Google Shape;69;p3"/>
          <p:cNvGrpSpPr/>
          <p:nvPr/>
        </p:nvGrpSpPr>
        <p:grpSpPr>
          <a:xfrm>
            <a:off x="190345" y="900758"/>
            <a:ext cx="7581747" cy="5906"/>
            <a:chOff x="1890075" y="5241175"/>
            <a:chExt cx="4240556" cy="257700"/>
          </a:xfrm>
        </p:grpSpPr>
        <p:sp>
          <p:nvSpPr>
            <p:cNvPr id="68" name="Google Shape;68;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0" name="Google Shape;70;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1" name="Google Shape;71;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73" name="Google Shape;73;p3"/>
          <p:cNvGrpSpPr/>
          <p:nvPr/>
        </p:nvGrpSpPr>
        <p:grpSpPr>
          <a:xfrm>
            <a:off x="190320" y="931759"/>
            <a:ext cx="7581691" cy="5901"/>
            <a:chOff x="1890075" y="5241175"/>
            <a:chExt cx="4240556" cy="257700"/>
          </a:xfrm>
        </p:grpSpPr>
        <p:sp>
          <p:nvSpPr>
            <p:cNvPr id="74" name="Google Shape;7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5" name="Google Shape;75;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 name="Google Shape;76;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7" name="Google Shape;77;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8" name="Google Shape;78;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79" name="Google Shape;79;p3"/>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sp>
      <p:sp>
        <p:nvSpPr>
          <p:cNvPr id="80" name="Google Shape;80;p3"/>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81" name="Google Shape;81;p3"/>
          <p:cNvSpPr/>
          <p:nvPr/>
        </p:nvSpPr>
        <p:spPr>
          <a:xfrm>
            <a:off x="190350" y="7617450"/>
            <a:ext cx="7581600" cy="2264100"/>
          </a:xfrm>
          <a:prstGeom prst="rect">
            <a:avLst/>
          </a:prstGeom>
          <a:solidFill>
            <a:srgbClr val="CC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 name="Google Shape;82;p3"/>
          <p:cNvCxnSpPr/>
          <p:nvPr/>
        </p:nvCxnSpPr>
        <p:spPr>
          <a:xfrm flipH="1">
            <a:off x="3028995" y="901911"/>
            <a:ext cx="20400" cy="8834400"/>
          </a:xfrm>
          <a:prstGeom prst="straightConnector1">
            <a:avLst/>
          </a:prstGeom>
          <a:noFill/>
          <a:ln w="9525" cap="flat" cmpd="sng">
            <a:solidFill>
              <a:srgbClr val="CCCCCC"/>
            </a:solidFill>
            <a:prstDash val="solid"/>
            <a:round/>
            <a:headEnd type="none" w="med" len="med"/>
            <a:tailEnd type="none" w="med" len="med"/>
          </a:ln>
        </p:spPr>
      </p:cxnSp>
      <p:cxnSp>
        <p:nvCxnSpPr>
          <p:cNvPr id="83" name="Google Shape;83;p3"/>
          <p:cNvCxnSpPr>
            <a:stCxn id="84" idx="0"/>
          </p:cNvCxnSpPr>
          <p:nvPr/>
        </p:nvCxnSpPr>
        <p:spPr>
          <a:xfrm flipH="1">
            <a:off x="172020" y="903608"/>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85" name="Google Shape;85;p3"/>
          <p:cNvGrpSpPr/>
          <p:nvPr/>
        </p:nvGrpSpPr>
        <p:grpSpPr>
          <a:xfrm>
            <a:off x="190320" y="900657"/>
            <a:ext cx="7581691" cy="5901"/>
            <a:chOff x="1890075" y="5241175"/>
            <a:chExt cx="4240556" cy="257700"/>
          </a:xfrm>
        </p:grpSpPr>
        <p:sp>
          <p:nvSpPr>
            <p:cNvPr id="84" name="Google Shape;8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6" name="Google Shape;86;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7" name="Google Shape;87;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8" name="Google Shape;88;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89" name="Google Shape;89;p3"/>
          <p:cNvGrpSpPr/>
          <p:nvPr/>
        </p:nvGrpSpPr>
        <p:grpSpPr>
          <a:xfrm>
            <a:off x="190320" y="931759"/>
            <a:ext cx="7581691" cy="5901"/>
            <a:chOff x="1890075" y="5241175"/>
            <a:chExt cx="4240556" cy="257700"/>
          </a:xfrm>
        </p:grpSpPr>
        <p:sp>
          <p:nvSpPr>
            <p:cNvPr id="90" name="Google Shape;90;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1" name="Google Shape;91;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2" name="Google Shape;92;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3" name="Google Shape;93;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94" name="Google Shape;94;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95" name="Google Shape;95;p3"/>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6" name="Google Shape;96;p3"/>
          <p:cNvGrpSpPr/>
          <p:nvPr/>
        </p:nvGrpSpPr>
        <p:grpSpPr>
          <a:xfrm>
            <a:off x="172024" y="1040825"/>
            <a:ext cx="137818" cy="187200"/>
            <a:chOff x="507100" y="1997600"/>
            <a:chExt cx="158375" cy="187200"/>
          </a:xfrm>
        </p:grpSpPr>
        <p:sp>
          <p:nvSpPr>
            <p:cNvPr id="97" name="Google Shape;97;p3"/>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07100" y="2017025"/>
              <a:ext cx="135900" cy="146700"/>
            </a:xfrm>
            <a:prstGeom prst="chevron">
              <a:avLst>
                <a:gd name="adj" fmla="val 50000"/>
              </a:avLst>
            </a:prstGeom>
            <a:solidFill>
              <a:srgbClr val="0000F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9;p3"/>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100" name="Google Shape;100;p3"/>
          <p:cNvGrpSpPr/>
          <p:nvPr/>
        </p:nvGrpSpPr>
        <p:grpSpPr>
          <a:xfrm>
            <a:off x="190349" y="2907725"/>
            <a:ext cx="137818" cy="187200"/>
            <a:chOff x="507100" y="1540400"/>
            <a:chExt cx="158375" cy="187200"/>
          </a:xfrm>
        </p:grpSpPr>
        <p:sp>
          <p:nvSpPr>
            <p:cNvPr id="101" name="Google Shape;101;p3"/>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07100" y="1559825"/>
              <a:ext cx="135900" cy="146700"/>
            </a:xfrm>
            <a:prstGeom prst="chevron">
              <a:avLst>
                <a:gd name="adj" fmla="val 50000"/>
              </a:avLst>
            </a:prstGeom>
            <a:solidFill>
              <a:srgbClr val="FF0000"/>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3"/>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104" name="Google Shape;104;p3"/>
          <p:cNvGrpSpPr/>
          <p:nvPr/>
        </p:nvGrpSpPr>
        <p:grpSpPr>
          <a:xfrm>
            <a:off x="172024" y="5506200"/>
            <a:ext cx="137818" cy="187200"/>
            <a:chOff x="507100" y="1997600"/>
            <a:chExt cx="158375" cy="187200"/>
          </a:xfrm>
        </p:grpSpPr>
        <p:sp>
          <p:nvSpPr>
            <p:cNvPr id="105" name="Google Shape;105;p3"/>
            <p:cNvSpPr/>
            <p:nvPr/>
          </p:nvSpPr>
          <p:spPr>
            <a:xfrm>
              <a:off x="529575" y="1997600"/>
              <a:ext cx="135900" cy="187200"/>
            </a:xfrm>
            <a:prstGeom prst="chevron">
              <a:avLst>
                <a:gd name="adj" fmla="val 50000"/>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507100" y="2017025"/>
              <a:ext cx="135900" cy="146700"/>
            </a:xfrm>
            <a:prstGeom prst="chevron">
              <a:avLst>
                <a:gd name="adj" fmla="val 50000"/>
              </a:avLst>
            </a:prstGeom>
            <a:solidFill>
              <a:srgbClr val="FFFF00"/>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8" name="Google Shape;108;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9" name="Google Shape;109;p3"/>
          <p:cNvGrpSpPr/>
          <p:nvPr/>
        </p:nvGrpSpPr>
        <p:grpSpPr>
          <a:xfrm>
            <a:off x="172024" y="7607808"/>
            <a:ext cx="137818" cy="187200"/>
            <a:chOff x="507100" y="1997600"/>
            <a:chExt cx="158375" cy="187200"/>
          </a:xfrm>
        </p:grpSpPr>
        <p:sp>
          <p:nvSpPr>
            <p:cNvPr id="110" name="Google Shape;110;p3"/>
            <p:cNvSpPr/>
            <p:nvPr/>
          </p:nvSpPr>
          <p:spPr>
            <a:xfrm>
              <a:off x="529575" y="1997600"/>
              <a:ext cx="135900" cy="187200"/>
            </a:xfrm>
            <a:prstGeom prst="chevron">
              <a:avLst>
                <a:gd name="adj" fmla="val 50000"/>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507100" y="2017025"/>
              <a:ext cx="135900" cy="146700"/>
            </a:xfrm>
            <a:prstGeom prst="chevron">
              <a:avLst>
                <a:gd name="adj" fmla="val 50000"/>
              </a:avLst>
            </a:prstGeom>
            <a:solidFill>
              <a:srgbClr val="38761D"/>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 name="Google Shape;112;p3"/>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sp>
      <p:sp>
        <p:nvSpPr>
          <p:cNvPr id="113" name="Google Shape;113;p3"/>
          <p:cNvSpPr txBox="1"/>
          <p:nvPr/>
        </p:nvSpPr>
        <p:spPr>
          <a:xfrm>
            <a:off x="159875" y="60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14" name="Google Shape;114;p3"/>
          <p:cNvSpPr txBox="1"/>
          <p:nvPr/>
        </p:nvSpPr>
        <p:spPr>
          <a:xfrm>
            <a:off x="1763100" y="4908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15" name="Google Shape;115;p3"/>
          <p:cNvSpPr txBox="1"/>
          <p:nvPr/>
        </p:nvSpPr>
        <p:spPr>
          <a:xfrm>
            <a:off x="3483688" y="403875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
        <p:nvSpPr>
          <p:cNvPr id="116" name="Google Shape;116;p3"/>
          <p:cNvSpPr txBox="1"/>
          <p:nvPr/>
        </p:nvSpPr>
        <p:spPr>
          <a:xfrm>
            <a:off x="3986375" y="71865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17"/>
        <p:cNvGrpSpPr/>
        <p:nvPr/>
      </p:nvGrpSpPr>
      <p:grpSpPr>
        <a:xfrm>
          <a:off x="0" y="0"/>
          <a:ext cx="0" cy="0"/>
          <a:chOff x="0" y="0"/>
          <a:chExt cx="0" cy="0"/>
        </a:xfrm>
      </p:grpSpPr>
      <p:cxnSp>
        <p:nvCxnSpPr>
          <p:cNvPr id="118" name="Google Shape;118;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19" name="Google Shape;119;p4"/>
          <p:cNvGrpSpPr/>
          <p:nvPr/>
        </p:nvGrpSpPr>
        <p:grpSpPr>
          <a:xfrm>
            <a:off x="404725" y="1300475"/>
            <a:ext cx="6908400" cy="72025"/>
            <a:chOff x="404725" y="1681475"/>
            <a:chExt cx="6908400" cy="72025"/>
          </a:xfrm>
        </p:grpSpPr>
        <p:cxnSp>
          <p:nvCxnSpPr>
            <p:cNvPr id="120" name="Google Shape;120;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21" name="Google Shape;121;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22" name="Google Shape;122;p4"/>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123" name="Google Shape;123;p4"/>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24" name="Google Shape;124;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25" name="Google Shape;125;p4"/>
          <p:cNvGrpSpPr/>
          <p:nvPr/>
        </p:nvGrpSpPr>
        <p:grpSpPr>
          <a:xfrm>
            <a:off x="417975" y="1504250"/>
            <a:ext cx="2357775" cy="410125"/>
            <a:chOff x="417975" y="1885250"/>
            <a:chExt cx="2357775" cy="410125"/>
          </a:xfrm>
        </p:grpSpPr>
        <p:sp>
          <p:nvSpPr>
            <p:cNvPr id="126" name="Google Shape;126;p4"/>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417975" y="3276600"/>
            <a:ext cx="2357775" cy="410125"/>
            <a:chOff x="265575" y="3352800"/>
            <a:chExt cx="2357775" cy="410125"/>
          </a:xfrm>
        </p:grpSpPr>
        <p:sp>
          <p:nvSpPr>
            <p:cNvPr id="131" name="Google Shape;131;p4"/>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4"/>
          <p:cNvGrpSpPr/>
          <p:nvPr/>
        </p:nvGrpSpPr>
        <p:grpSpPr>
          <a:xfrm>
            <a:off x="3872044" y="3276600"/>
            <a:ext cx="2747987" cy="410125"/>
            <a:chOff x="3567313" y="3200400"/>
            <a:chExt cx="2357775" cy="410125"/>
          </a:xfrm>
        </p:grpSpPr>
        <p:sp>
          <p:nvSpPr>
            <p:cNvPr id="136" name="Google Shape;136;p4"/>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4"/>
          <p:cNvGrpSpPr/>
          <p:nvPr/>
        </p:nvGrpSpPr>
        <p:grpSpPr>
          <a:xfrm>
            <a:off x="417963" y="6597750"/>
            <a:ext cx="2357775" cy="410125"/>
            <a:chOff x="-39237" y="6140550"/>
            <a:chExt cx="2357775" cy="410125"/>
          </a:xfrm>
        </p:grpSpPr>
        <p:sp>
          <p:nvSpPr>
            <p:cNvPr id="141" name="Google Shape;141;p4"/>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 name="Google Shape;145;p4"/>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46" name="Google Shape;146;p4"/>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47" name="Google Shape;147;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48" name="Google Shape;148;p4"/>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9" name="Google Shape;149;p4"/>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0" name="Google Shape;150;p4"/>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1" name="Google Shape;151;p4"/>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2" name="Google Shape;152;p4"/>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3" name="Google Shape;153;p4"/>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154" name="Google Shape;154;p4"/>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55" name="Google Shape;155;p4"/>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56" name="Google Shape;156;p4"/>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sp>
      <p:sp>
        <p:nvSpPr>
          <p:cNvPr id="157" name="Google Shape;157;p4"/>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58"/>
        <p:cNvGrpSpPr/>
        <p:nvPr/>
      </p:nvGrpSpPr>
      <p:grpSpPr>
        <a:xfrm>
          <a:off x="0" y="0"/>
          <a:ext cx="0" cy="0"/>
          <a:chOff x="0" y="0"/>
          <a:chExt cx="0" cy="0"/>
        </a:xfrm>
      </p:grpSpPr>
      <p:sp>
        <p:nvSpPr>
          <p:cNvPr id="159" name="Google Shape;159;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160" name="Google Shape;160;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161" name="Google Shape;161;p5"/>
          <p:cNvGrpSpPr/>
          <p:nvPr/>
        </p:nvGrpSpPr>
        <p:grpSpPr>
          <a:xfrm>
            <a:off x="95351" y="1392509"/>
            <a:ext cx="7581691" cy="5901"/>
            <a:chOff x="1890075" y="5241175"/>
            <a:chExt cx="4240556" cy="257700"/>
          </a:xfrm>
        </p:grpSpPr>
        <p:sp>
          <p:nvSpPr>
            <p:cNvPr id="162" name="Google Shape;16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3" name="Google Shape;16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4" name="Google Shape;16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5" name="Google Shape;16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166" name="Google Shape;166;p5"/>
          <p:cNvGrpSpPr/>
          <p:nvPr/>
        </p:nvGrpSpPr>
        <p:grpSpPr>
          <a:xfrm>
            <a:off x="95351" y="4542984"/>
            <a:ext cx="7581691" cy="5901"/>
            <a:chOff x="1890075" y="5241175"/>
            <a:chExt cx="4240556" cy="257700"/>
          </a:xfrm>
        </p:grpSpPr>
        <p:sp>
          <p:nvSpPr>
            <p:cNvPr id="167" name="Google Shape;16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8" name="Google Shape;16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9" name="Google Shape;16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0" name="Google Shape;17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71" name="Google Shape;171;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72" name="Google Shape;172;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73" name="Google Shape;173;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74" name="Google Shape;174;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75" name="Google Shape;175;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76" name="Google Shape;176;p5"/>
          <p:cNvGrpSpPr/>
          <p:nvPr/>
        </p:nvGrpSpPr>
        <p:grpSpPr>
          <a:xfrm>
            <a:off x="95351" y="8200359"/>
            <a:ext cx="7581691" cy="5901"/>
            <a:chOff x="1890075" y="5241175"/>
            <a:chExt cx="4240556" cy="257700"/>
          </a:xfrm>
        </p:grpSpPr>
        <p:sp>
          <p:nvSpPr>
            <p:cNvPr id="177" name="Google Shape;17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8" name="Google Shape;17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9" name="Google Shape;17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80" name="Google Shape;18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81" name="Google Shape;181;p5"/>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82" name="Google Shape;182;p5"/>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83" name="Google Shape;183;p5"/>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sp>
      <p:sp>
        <p:nvSpPr>
          <p:cNvPr id="184" name="Google Shape;184;p5"/>
          <p:cNvSpPr txBox="1"/>
          <p:nvPr/>
        </p:nvSpPr>
        <p:spPr>
          <a:xfrm>
            <a:off x="4326325" y="74569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85"/>
        <p:cNvGrpSpPr/>
        <p:nvPr/>
      </p:nvGrpSpPr>
      <p:grpSpPr>
        <a:xfrm>
          <a:off x="0" y="0"/>
          <a:ext cx="0" cy="0"/>
          <a:chOff x="0" y="0"/>
          <a:chExt cx="0" cy="0"/>
        </a:xfrm>
      </p:grpSpPr>
      <p:sp>
        <p:nvSpPr>
          <p:cNvPr id="186" name="Google Shape;186;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87" name="Google Shape;187;p6"/>
          <p:cNvGrpSpPr/>
          <p:nvPr/>
        </p:nvGrpSpPr>
        <p:grpSpPr>
          <a:xfrm>
            <a:off x="-16250" y="9048087"/>
            <a:ext cx="7804900" cy="1072407"/>
            <a:chOff x="-19118" y="4617750"/>
            <a:chExt cx="9182236" cy="548378"/>
          </a:xfrm>
        </p:grpSpPr>
        <p:sp>
          <p:nvSpPr>
            <p:cNvPr id="188" name="Google Shape;188;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89" name="Google Shape;189;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9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96"/>
        <p:cNvGrpSpPr/>
        <p:nvPr/>
      </p:nvGrpSpPr>
      <p:grpSpPr>
        <a:xfrm>
          <a:off x="0" y="0"/>
          <a:ext cx="0" cy="0"/>
          <a:chOff x="0" y="0"/>
          <a:chExt cx="0" cy="0"/>
        </a:xfrm>
      </p:grpSpPr>
      <p:grpSp>
        <p:nvGrpSpPr>
          <p:cNvPr id="197" name="Google Shape;197;p9"/>
          <p:cNvGrpSpPr/>
          <p:nvPr/>
        </p:nvGrpSpPr>
        <p:grpSpPr>
          <a:xfrm>
            <a:off x="172055" y="1468890"/>
            <a:ext cx="7434543" cy="62982"/>
            <a:chOff x="1890075" y="5241175"/>
            <a:chExt cx="4240556" cy="257700"/>
          </a:xfrm>
        </p:grpSpPr>
        <p:sp>
          <p:nvSpPr>
            <p:cNvPr id="198" name="Google Shape;198;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9" name="Google Shape;199;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0" name="Google Shape;200;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1" name="Google Shape;201;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02" name="Google Shape;202;p9"/>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203" name="Google Shape;203;p9"/>
          <p:cNvGrpSpPr/>
          <p:nvPr/>
        </p:nvGrpSpPr>
        <p:grpSpPr>
          <a:xfrm>
            <a:off x="168930" y="2702615"/>
            <a:ext cx="7434543" cy="62982"/>
            <a:chOff x="1890075" y="5241175"/>
            <a:chExt cx="4240556" cy="257700"/>
          </a:xfrm>
        </p:grpSpPr>
        <p:sp>
          <p:nvSpPr>
            <p:cNvPr id="204" name="Google Shape;204;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5" name="Google Shape;205;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6" name="Google Shape;206;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7" name="Google Shape;207;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08" name="Google Shape;208;p9"/>
          <p:cNvCxnSpPr>
            <a:stCxn id="198"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09" name="Google Shape;209;p9"/>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10" name="Google Shape;210;p9"/>
          <p:cNvGrpSpPr/>
          <p:nvPr/>
        </p:nvGrpSpPr>
        <p:grpSpPr>
          <a:xfrm>
            <a:off x="0" y="3413775"/>
            <a:ext cx="3530025" cy="746350"/>
            <a:chOff x="0" y="3156075"/>
            <a:chExt cx="3530025" cy="746350"/>
          </a:xfrm>
        </p:grpSpPr>
        <p:sp>
          <p:nvSpPr>
            <p:cNvPr id="211" name="Google Shape;211;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2" name="Google Shape;212;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13" name="Google Shape;213;p9"/>
          <p:cNvGrpSpPr/>
          <p:nvPr/>
        </p:nvGrpSpPr>
        <p:grpSpPr>
          <a:xfrm>
            <a:off x="3248850" y="2867100"/>
            <a:ext cx="4936034" cy="746350"/>
            <a:chOff x="0" y="3156075"/>
            <a:chExt cx="3530025" cy="746350"/>
          </a:xfrm>
        </p:grpSpPr>
        <p:sp>
          <p:nvSpPr>
            <p:cNvPr id="214" name="Google Shape;214;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5" name="Google Shape;215;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16" name="Google Shape;216;p9"/>
          <p:cNvGrpSpPr/>
          <p:nvPr/>
        </p:nvGrpSpPr>
        <p:grpSpPr>
          <a:xfrm>
            <a:off x="3248850" y="7166275"/>
            <a:ext cx="4936034" cy="746350"/>
            <a:chOff x="0" y="3156075"/>
            <a:chExt cx="3530025" cy="746350"/>
          </a:xfrm>
        </p:grpSpPr>
        <p:sp>
          <p:nvSpPr>
            <p:cNvPr id="217" name="Google Shape;217;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8" name="Google Shape;218;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19" name="Google Shape;219;p9"/>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220" name="Google Shape;220;p9"/>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221" name="Google Shape;221;p9"/>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222" name="Google Shape;222;p9"/>
          <p:cNvGrpSpPr/>
          <p:nvPr/>
        </p:nvGrpSpPr>
        <p:grpSpPr>
          <a:xfrm>
            <a:off x="172055" y="1468890"/>
            <a:ext cx="7434543" cy="62982"/>
            <a:chOff x="1890075" y="5241175"/>
            <a:chExt cx="4240556" cy="257700"/>
          </a:xfrm>
        </p:grpSpPr>
        <p:sp>
          <p:nvSpPr>
            <p:cNvPr id="223" name="Google Shape;223;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4" name="Google Shape;224;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5" name="Google Shape;225;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6" name="Google Shape;226;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27" name="Google Shape;227;p9"/>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228" name="Google Shape;228;p9"/>
          <p:cNvGrpSpPr/>
          <p:nvPr/>
        </p:nvGrpSpPr>
        <p:grpSpPr>
          <a:xfrm>
            <a:off x="168930" y="2702615"/>
            <a:ext cx="7434543" cy="62982"/>
            <a:chOff x="1890075" y="5241175"/>
            <a:chExt cx="4240556" cy="257700"/>
          </a:xfrm>
        </p:grpSpPr>
        <p:sp>
          <p:nvSpPr>
            <p:cNvPr id="229" name="Google Shape;229;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0" name="Google Shape;230;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1" name="Google Shape;231;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2" name="Google Shape;232;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233" name="Google Shape;233;p9"/>
          <p:cNvCxnSpPr>
            <a:stCxn id="223"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4" name="Google Shape;234;p9"/>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35" name="Google Shape;235;p9"/>
          <p:cNvGrpSpPr/>
          <p:nvPr/>
        </p:nvGrpSpPr>
        <p:grpSpPr>
          <a:xfrm>
            <a:off x="0" y="3413775"/>
            <a:ext cx="3530025" cy="746350"/>
            <a:chOff x="0" y="3156075"/>
            <a:chExt cx="3530025" cy="746350"/>
          </a:xfrm>
        </p:grpSpPr>
        <p:sp>
          <p:nvSpPr>
            <p:cNvPr id="236" name="Google Shape;236;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7" name="Google Shape;237;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38" name="Google Shape;238;p9"/>
          <p:cNvGrpSpPr/>
          <p:nvPr/>
        </p:nvGrpSpPr>
        <p:grpSpPr>
          <a:xfrm>
            <a:off x="3248850" y="2867100"/>
            <a:ext cx="4936034" cy="746350"/>
            <a:chOff x="0" y="3156075"/>
            <a:chExt cx="3530025" cy="746350"/>
          </a:xfrm>
        </p:grpSpPr>
        <p:sp>
          <p:nvSpPr>
            <p:cNvPr id="239" name="Google Shape;239;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40" name="Google Shape;240;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41" name="Google Shape;241;p9"/>
          <p:cNvGrpSpPr/>
          <p:nvPr/>
        </p:nvGrpSpPr>
        <p:grpSpPr>
          <a:xfrm>
            <a:off x="3248850" y="7166275"/>
            <a:ext cx="4936034" cy="746350"/>
            <a:chOff x="0" y="3156075"/>
            <a:chExt cx="3530025" cy="746350"/>
          </a:xfrm>
        </p:grpSpPr>
        <p:sp>
          <p:nvSpPr>
            <p:cNvPr id="242" name="Google Shape;242;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43" name="Google Shape;243;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44" name="Google Shape;244;p9"/>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245" name="Google Shape;245;p9"/>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246" name="Google Shape;246;p9"/>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247" name="Google Shape;247;p9"/>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91"/>
        <p:cNvGrpSpPr/>
        <p:nvPr/>
      </p:nvGrpSpPr>
      <p:grpSpPr>
        <a:xfrm>
          <a:off x="0" y="0"/>
          <a:ext cx="0" cy="0"/>
          <a:chOff x="0" y="0"/>
          <a:chExt cx="0" cy="0"/>
        </a:xfrm>
      </p:grpSpPr>
      <p:sp>
        <p:nvSpPr>
          <p:cNvPr id="192" name="Google Shape;192;p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93" name="Google Shape;193;p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194" name="Google Shape;194;p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95" name="Google Shape;195;p8"/>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5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17"/>
          <p:cNvSpPr txBox="1"/>
          <p:nvPr/>
        </p:nvSpPr>
        <p:spPr>
          <a:xfrm>
            <a:off x="188700" y="1533300"/>
            <a:ext cx="3697500" cy="285000"/>
          </a:xfrm>
          <a:prstGeom prst="rect">
            <a:avLst/>
          </a:prstGeom>
          <a:noFill/>
          <a:ln>
            <a:noFill/>
          </a:ln>
        </p:spPr>
        <p:txBody>
          <a:bodyPr spcFirstLastPara="1" wrap="square" lIns="91425" tIns="91425" rIns="91425" bIns="91425" anchor="t" anchorCtr="0">
            <a:noAutofit/>
          </a:bodyPr>
          <a:lstStyle/>
          <a:p>
            <a:pPr marL="0" lvl="0" indent="0" algn="l" rtl="0">
              <a:lnSpc>
                <a:spcPct val="85000"/>
              </a:lnSpc>
              <a:spcBef>
                <a:spcPts val="0"/>
              </a:spcBef>
              <a:spcAft>
                <a:spcPts val="0"/>
              </a:spcAft>
              <a:buSzPts val="852"/>
              <a:buNone/>
            </a:pPr>
            <a:r>
              <a:rPr lang="en" sz="1375" dirty="0">
                <a:latin typeface="Google Sans SemiBold"/>
                <a:ea typeface="Google Sans SemiBold"/>
                <a:cs typeface="Google Sans SemiBold"/>
                <a:sym typeface="Google Sans SemiBold"/>
              </a:rPr>
              <a:t>Project Overview</a:t>
            </a:r>
            <a:endParaRPr sz="1375" dirty="0">
              <a:solidFill>
                <a:srgbClr val="000000"/>
              </a:solidFill>
              <a:latin typeface="Google Sans SemiBold"/>
              <a:ea typeface="Google Sans SemiBold"/>
              <a:cs typeface="Google Sans SemiBold"/>
              <a:sym typeface="Google Sans SemiBold"/>
            </a:endParaRPr>
          </a:p>
        </p:txBody>
      </p:sp>
      <p:sp>
        <p:nvSpPr>
          <p:cNvPr id="421" name="Google Shape;421;p17"/>
          <p:cNvSpPr txBox="1"/>
          <p:nvPr/>
        </p:nvSpPr>
        <p:spPr>
          <a:xfrm>
            <a:off x="287625" y="1859125"/>
            <a:ext cx="7309500" cy="83096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dirty="0">
                <a:latin typeface="Google Sans" panose="020B0604020202020204" charset="0"/>
                <a:ea typeface="Google Sans" panose="020B0604020202020204" charset="0"/>
                <a:cs typeface="Google Sans" panose="020B0604020202020204" charset="0"/>
              </a:rPr>
              <a:t>The main purpose of this project is to conduct an A/B test to determine whether there is a relationship between the fare amount and type of payment (cash or card) used by riders of taxis in New York City. </a:t>
            </a:r>
            <a:endParaRPr dirty="0">
              <a:latin typeface="Google Sans" panose="020B0604020202020204" charset="0"/>
              <a:ea typeface="Google Sans" panose="020B0604020202020204" charset="0"/>
              <a:cs typeface="Google Sans" panose="020B0604020202020204" charset="0"/>
            </a:endParaRPr>
          </a:p>
        </p:txBody>
      </p:sp>
      <p:sp>
        <p:nvSpPr>
          <p:cNvPr id="423" name="Google Shape;423;p17"/>
          <p:cNvSpPr txBox="1"/>
          <p:nvPr/>
        </p:nvSpPr>
        <p:spPr>
          <a:xfrm>
            <a:off x="3942374" y="5552165"/>
            <a:ext cx="3314699" cy="469160"/>
          </a:xfrm>
          <a:prstGeom prst="rect">
            <a:avLst/>
          </a:prstGeom>
          <a:noFill/>
          <a:ln>
            <a:noFill/>
          </a:ln>
        </p:spPr>
        <p:txBody>
          <a:bodyPr spcFirstLastPara="1" wrap="square" lIns="91425" tIns="91425" rIns="91425" bIns="91425" anchor="t" anchorCtr="0">
            <a:normAutofit fontScale="92500" lnSpcReduction="20000"/>
          </a:bodyPr>
          <a:lstStyle/>
          <a:p>
            <a:pPr marL="0" lvl="0" indent="0" algn="l" rtl="0">
              <a:lnSpc>
                <a:spcPct val="105000"/>
              </a:lnSpc>
              <a:spcBef>
                <a:spcPts val="0"/>
              </a:spcBef>
              <a:spcAft>
                <a:spcPts val="0"/>
              </a:spcAft>
              <a:buNone/>
            </a:pPr>
            <a:r>
              <a:rPr lang="en" sz="1100" i="1" dirty="0">
                <a:latin typeface="Lato"/>
                <a:ea typeface="Lato"/>
                <a:cs typeface="Lato"/>
                <a:sym typeface="Lato"/>
              </a:rPr>
              <a:t>D</a:t>
            </a:r>
            <a:r>
              <a:rPr lang="en-GB" sz="1100" i="1" dirty="0" err="1">
                <a:latin typeface="Lato"/>
                <a:ea typeface="Lato"/>
                <a:cs typeface="Lato"/>
                <a:sym typeface="Lato"/>
              </a:rPr>
              <a:t>istribution</a:t>
            </a:r>
            <a:r>
              <a:rPr lang="en-GB" sz="1100" i="1" dirty="0">
                <a:latin typeface="Lato"/>
                <a:ea typeface="Lato"/>
                <a:cs typeface="Lato"/>
                <a:sym typeface="Lato"/>
              </a:rPr>
              <a:t> of fare amount per payment type, after outliers have been removed.</a:t>
            </a:r>
            <a:endParaRPr sz="1100" i="1" dirty="0">
              <a:solidFill>
                <a:srgbClr val="000000"/>
              </a:solidFill>
              <a:latin typeface="Lato"/>
              <a:ea typeface="Lato"/>
              <a:cs typeface="Lato"/>
              <a:sym typeface="Lato"/>
            </a:endParaRPr>
          </a:p>
        </p:txBody>
      </p:sp>
      <p:grpSp>
        <p:nvGrpSpPr>
          <p:cNvPr id="424" name="Google Shape;424;p17"/>
          <p:cNvGrpSpPr/>
          <p:nvPr/>
        </p:nvGrpSpPr>
        <p:grpSpPr>
          <a:xfrm>
            <a:off x="188699" y="314960"/>
            <a:ext cx="7430076" cy="1121465"/>
            <a:chOff x="188699" y="665125"/>
            <a:chExt cx="5084865" cy="771300"/>
          </a:xfrm>
        </p:grpSpPr>
        <p:sp>
          <p:nvSpPr>
            <p:cNvPr id="425" name="Google Shape;425;p17"/>
            <p:cNvSpPr txBox="1"/>
            <p:nvPr/>
          </p:nvSpPr>
          <p:spPr>
            <a:xfrm>
              <a:off x="188700" y="665125"/>
              <a:ext cx="5084864" cy="7713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p>
              <a:pPr marL="0" lvl="0" indent="0" algn="l" rtl="0">
                <a:lnSpc>
                  <a:spcPct val="95000"/>
                </a:lnSpc>
                <a:spcBef>
                  <a:spcPts val="0"/>
                </a:spcBef>
                <a:spcAft>
                  <a:spcPts val="0"/>
                </a:spcAft>
                <a:buNone/>
              </a:pPr>
              <a:r>
                <a:rPr lang="en" sz="1600" b="1" dirty="0">
                  <a:latin typeface="Google Sans SemiBold"/>
                  <a:ea typeface="Google Sans SemiBold"/>
                  <a:cs typeface="Google Sans SemiBold"/>
                  <a:sym typeface="Google Sans SemiBold"/>
                </a:rPr>
                <a:t>Title: Analysis of the relationship between payment type and fare amount</a:t>
              </a:r>
              <a:endParaRPr sz="1900" dirty="0">
                <a:solidFill>
                  <a:srgbClr val="000000"/>
                </a:solidFill>
                <a:latin typeface="Google Sans SemiBold"/>
                <a:ea typeface="Google Sans SemiBold"/>
                <a:cs typeface="Google Sans SemiBold"/>
                <a:sym typeface="Google Sans SemiBold"/>
              </a:endParaRPr>
            </a:p>
          </p:txBody>
        </p:sp>
        <p:sp>
          <p:nvSpPr>
            <p:cNvPr id="426" name="Google Shape;426;p17"/>
            <p:cNvSpPr txBox="1"/>
            <p:nvPr/>
          </p:nvSpPr>
          <p:spPr>
            <a:xfrm>
              <a:off x="188699" y="1036225"/>
              <a:ext cx="5084865"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dirty="0">
                  <a:latin typeface="Google Sans" panose="020B0604020202020204" charset="0"/>
                  <a:ea typeface="Google Sans" panose="020B0604020202020204" charset="0"/>
                  <a:cs typeface="Google Sans" panose="020B0604020202020204" charset="0"/>
                  <a:sym typeface="Roboto"/>
                </a:rPr>
                <a:t>Subtitle: Do taxi customers pay on average a different fare amount depending on the payment type they use?</a:t>
              </a:r>
              <a:endParaRPr dirty="0">
                <a:solidFill>
                  <a:srgbClr val="000000"/>
                </a:solidFill>
                <a:latin typeface="Google Sans" panose="020B0604020202020204" charset="0"/>
                <a:ea typeface="Google Sans" panose="020B0604020202020204" charset="0"/>
                <a:cs typeface="Google Sans" panose="020B0604020202020204" charset="0"/>
                <a:sym typeface="Roboto"/>
              </a:endParaRPr>
            </a:p>
          </p:txBody>
        </p:sp>
      </p:grpSp>
      <p:sp>
        <p:nvSpPr>
          <p:cNvPr id="2" name="Google Shape;421;p17">
            <a:extLst>
              <a:ext uri="{FF2B5EF4-FFF2-40B4-BE49-F238E27FC236}">
                <a16:creationId xmlns:a16="http://schemas.microsoft.com/office/drawing/2014/main" id="{090042DF-D751-BF8E-F8D5-87203316DD7A}"/>
              </a:ext>
            </a:extLst>
          </p:cNvPr>
          <p:cNvSpPr txBox="1"/>
          <p:nvPr/>
        </p:nvSpPr>
        <p:spPr>
          <a:xfrm>
            <a:off x="287625" y="3976916"/>
            <a:ext cx="2828955" cy="541683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dirty="0">
                <a:latin typeface="Google Sans" panose="020B0604020202020204" charset="0"/>
                <a:ea typeface="Google Sans" panose="020B0604020202020204" charset="0"/>
                <a:cs typeface="Google Sans" panose="020B0604020202020204" charset="0"/>
              </a:rPr>
              <a:t>The mean fare amount per payment type is the following:</a:t>
            </a:r>
          </a:p>
          <a:p>
            <a:pPr marL="285750" lvl="0" indent="-285750" algn="l" rtl="0">
              <a:spcBef>
                <a:spcPts val="0"/>
              </a:spcBef>
              <a:spcAft>
                <a:spcPts val="0"/>
              </a:spcAft>
              <a:buFont typeface="Arial" panose="020B0604020202020204" pitchFamily="34" charset="0"/>
              <a:buChar char="•"/>
            </a:pPr>
            <a:r>
              <a:rPr lang="en-GB" sz="1200" dirty="0">
                <a:latin typeface="Google Sans" panose="020B0604020202020204" charset="0"/>
                <a:ea typeface="Google Sans" panose="020B0604020202020204" charset="0"/>
                <a:cs typeface="Google Sans" panose="020B0604020202020204" charset="0"/>
              </a:rPr>
              <a:t>Credit card: $</a:t>
            </a:r>
            <a:r>
              <a:rPr lang="en-CH" sz="1200" dirty="0">
                <a:latin typeface="Google Sans" panose="020B0604020202020204" charset="0"/>
                <a:ea typeface="Google Sans" panose="020B0604020202020204" charset="0"/>
                <a:cs typeface="Google Sans" panose="020B0604020202020204" charset="0"/>
              </a:rPr>
              <a:t>13.4</a:t>
            </a:r>
            <a:r>
              <a:rPr lang="en-GB" sz="1200" dirty="0">
                <a:latin typeface="Google Sans" panose="020B0604020202020204" charset="0"/>
                <a:ea typeface="Google Sans" panose="020B0604020202020204" charset="0"/>
                <a:cs typeface="Google Sans" panose="020B0604020202020204" charset="0"/>
              </a:rPr>
              <a:t>3</a:t>
            </a:r>
            <a:endParaRPr lang="en-CH" sz="1200" dirty="0">
              <a:latin typeface="Google Sans" panose="020B0604020202020204" charset="0"/>
              <a:ea typeface="Google Sans" panose="020B0604020202020204" charset="0"/>
              <a:cs typeface="Google Sans" panose="020B0604020202020204" charset="0"/>
            </a:endParaRPr>
          </a:p>
          <a:p>
            <a:pPr marL="285750" lvl="0" indent="-285750" algn="l" rtl="0">
              <a:spcBef>
                <a:spcPts val="0"/>
              </a:spcBef>
              <a:spcAft>
                <a:spcPts val="0"/>
              </a:spcAft>
              <a:buFont typeface="Arial" panose="020B0604020202020204" pitchFamily="34" charset="0"/>
              <a:buChar char="•"/>
            </a:pPr>
            <a:r>
              <a:rPr lang="en-GB" sz="1200" dirty="0">
                <a:latin typeface="Google Sans" panose="020B0604020202020204" charset="0"/>
                <a:ea typeface="Google Sans" panose="020B0604020202020204" charset="0"/>
                <a:cs typeface="Google Sans" panose="020B0604020202020204" charset="0"/>
              </a:rPr>
              <a:t>Cash: $</a:t>
            </a:r>
            <a:r>
              <a:rPr lang="en-CH" sz="1200" dirty="0">
                <a:latin typeface="Google Sans" panose="020B0604020202020204" charset="0"/>
                <a:ea typeface="Google Sans" panose="020B0604020202020204" charset="0"/>
                <a:cs typeface="Google Sans" panose="020B0604020202020204" charset="0"/>
              </a:rPr>
              <a:t>12.21</a:t>
            </a:r>
            <a:endParaRPr lang="en-GB" sz="1200" dirty="0">
              <a:latin typeface="Google Sans" panose="020B0604020202020204" charset="0"/>
              <a:ea typeface="Google Sans" panose="020B0604020202020204" charset="0"/>
              <a:cs typeface="Google Sans" panose="020B0604020202020204" charset="0"/>
            </a:endParaRPr>
          </a:p>
          <a:p>
            <a:pPr lvl="0" algn="l" rtl="0">
              <a:spcBef>
                <a:spcPts val="0"/>
              </a:spcBef>
              <a:spcAft>
                <a:spcPts val="0"/>
              </a:spcAft>
            </a:pPr>
            <a:endParaRPr lang="en-GB" sz="1200" dirty="0">
              <a:latin typeface="Google Sans" panose="020B0604020202020204" charset="0"/>
              <a:ea typeface="Google Sans" panose="020B0604020202020204" charset="0"/>
              <a:cs typeface="Google Sans" panose="020B0604020202020204" charset="0"/>
            </a:endParaRPr>
          </a:p>
          <a:p>
            <a:pPr lvl="0" algn="l" rtl="0">
              <a:spcBef>
                <a:spcPts val="0"/>
              </a:spcBef>
              <a:spcAft>
                <a:spcPts val="0"/>
              </a:spcAft>
            </a:pPr>
            <a:r>
              <a:rPr lang="en-GB" sz="1200" dirty="0">
                <a:latin typeface="Google Sans" panose="020B0604020202020204" charset="0"/>
                <a:ea typeface="Google Sans" panose="020B0604020202020204" charset="0"/>
                <a:cs typeface="Google Sans" panose="020B0604020202020204" charset="0"/>
              </a:rPr>
              <a:t>The following hypotheses were investigated:</a:t>
            </a:r>
          </a:p>
          <a:p>
            <a:pPr marL="285750" lvl="0" indent="-285750">
              <a:buFont typeface="Arial" panose="020B0604020202020204" pitchFamily="34" charset="0"/>
              <a:buChar char="•"/>
            </a:pPr>
            <a:r>
              <a:rPr lang="en-GB" sz="1100" dirty="0">
                <a:latin typeface="Google Sans" panose="020B0604020202020204" charset="0"/>
                <a:ea typeface="Google Sans" panose="020B0604020202020204" charset="0"/>
                <a:cs typeface="Google Sans" panose="020B0604020202020204" charset="0"/>
              </a:rPr>
              <a:t>H</a:t>
            </a:r>
            <a:r>
              <a:rPr lang="en-GB" sz="1100" baseline="-25000" dirty="0">
                <a:latin typeface="Google Sans" panose="020B0604020202020204" charset="0"/>
                <a:ea typeface="Google Sans" panose="020B0604020202020204" charset="0"/>
                <a:cs typeface="Google Sans" panose="020B0604020202020204" charset="0"/>
              </a:rPr>
              <a:t>0</a:t>
            </a:r>
            <a:r>
              <a:rPr lang="en-GB" sz="1100" dirty="0">
                <a:latin typeface="Google Sans" panose="020B0604020202020204" charset="0"/>
                <a:ea typeface="Google Sans" panose="020B0604020202020204" charset="0"/>
                <a:cs typeface="Google Sans" panose="020B0604020202020204" charset="0"/>
              </a:rPr>
              <a:t>: There is no difference in the average fare amount between customers who use credit cards and customers who use cash.</a:t>
            </a:r>
          </a:p>
          <a:p>
            <a:pPr marL="285750" lvl="0" indent="-285750">
              <a:buFont typeface="Arial" panose="020B0604020202020204" pitchFamily="34" charset="0"/>
              <a:buChar char="•"/>
            </a:pPr>
            <a:r>
              <a:rPr lang="en-GB" sz="1100" dirty="0">
                <a:latin typeface="Google Sans" panose="020B0604020202020204" charset="0"/>
                <a:ea typeface="Google Sans" panose="020B0604020202020204" charset="0"/>
                <a:cs typeface="Google Sans" panose="020B0604020202020204" charset="0"/>
              </a:rPr>
              <a:t>H</a:t>
            </a:r>
            <a:r>
              <a:rPr lang="en-GB" sz="1100" baseline="-25000" dirty="0">
                <a:latin typeface="Google Sans" panose="020B0604020202020204" charset="0"/>
                <a:ea typeface="Google Sans" panose="020B0604020202020204" charset="0"/>
                <a:cs typeface="Google Sans" panose="020B0604020202020204" charset="0"/>
              </a:rPr>
              <a:t>A</a:t>
            </a:r>
            <a:r>
              <a:rPr lang="en-GB" sz="1100" dirty="0">
                <a:latin typeface="Google Sans" panose="020B0604020202020204" charset="0"/>
                <a:ea typeface="Google Sans" panose="020B0604020202020204" charset="0"/>
                <a:cs typeface="Google Sans" panose="020B0604020202020204" charset="0"/>
              </a:rPr>
              <a:t>: There is a difference in the average fare amount between customers who use credit cards and customers who use cash.</a:t>
            </a:r>
          </a:p>
          <a:p>
            <a:pPr lvl="0" algn="l" rtl="0">
              <a:spcBef>
                <a:spcPts val="0"/>
              </a:spcBef>
              <a:spcAft>
                <a:spcPts val="0"/>
              </a:spcAft>
            </a:pPr>
            <a:endParaRPr lang="en-GB" sz="1200" dirty="0">
              <a:latin typeface="Google Sans" panose="020B0604020202020204" charset="0"/>
              <a:ea typeface="Google Sans" panose="020B0604020202020204" charset="0"/>
              <a:cs typeface="Google Sans" panose="020B0604020202020204" charset="0"/>
            </a:endParaRPr>
          </a:p>
          <a:p>
            <a:pPr lvl="0" algn="l" rtl="0">
              <a:spcBef>
                <a:spcPts val="0"/>
              </a:spcBef>
              <a:spcAft>
                <a:spcPts val="0"/>
              </a:spcAft>
            </a:pPr>
            <a:r>
              <a:rPr lang="en-GB" sz="1200" dirty="0">
                <a:latin typeface="Google Sans" panose="020B0604020202020204" charset="0"/>
                <a:ea typeface="Google Sans" panose="020B0604020202020204" charset="0"/>
                <a:cs typeface="Google Sans" panose="020B0604020202020204" charset="0"/>
              </a:rPr>
              <a:t>The significance level was set to </a:t>
            </a:r>
            <a:r>
              <a:rPr lang="en-GB" sz="1200" b="1" dirty="0">
                <a:latin typeface="Google Sans" panose="020B0604020202020204" charset="0"/>
                <a:ea typeface="Google Sans" panose="020B0604020202020204" charset="0"/>
                <a:cs typeface="Google Sans" panose="020B0604020202020204" charset="0"/>
              </a:rPr>
              <a:t>5%</a:t>
            </a:r>
            <a:r>
              <a:rPr lang="en-GB" sz="1200" dirty="0">
                <a:latin typeface="Google Sans" panose="020B0604020202020204" charset="0"/>
                <a:ea typeface="Google Sans" panose="020B0604020202020204" charset="0"/>
                <a:cs typeface="Google Sans" panose="020B0604020202020204" charset="0"/>
              </a:rPr>
              <a:t>.</a:t>
            </a:r>
          </a:p>
          <a:p>
            <a:endParaRPr lang="en-GB" sz="1200" dirty="0">
              <a:latin typeface="Google Sans" panose="020B0604020202020204" charset="0"/>
              <a:ea typeface="Google Sans" panose="020B0604020202020204" charset="0"/>
              <a:cs typeface="Google Sans" panose="020B0604020202020204" charset="0"/>
            </a:endParaRPr>
          </a:p>
          <a:p>
            <a:r>
              <a:rPr lang="en-GB" sz="1200" dirty="0">
                <a:latin typeface="Google Sans" panose="020B0604020202020204" charset="0"/>
                <a:ea typeface="Google Sans" panose="020B0604020202020204" charset="0"/>
                <a:cs typeface="Google Sans" panose="020B0604020202020204" charset="0"/>
              </a:rPr>
              <a:t>A two-sided t-test was conducted, and the following p-value was obtained: </a:t>
            </a:r>
            <a:r>
              <a:rPr lang="en-GB" sz="1200" b="1" dirty="0"/>
              <a:t>6.80e-12</a:t>
            </a:r>
          </a:p>
          <a:p>
            <a:pPr lvl="0" algn="l" rtl="0">
              <a:spcBef>
                <a:spcPts val="0"/>
              </a:spcBef>
              <a:spcAft>
                <a:spcPts val="0"/>
              </a:spcAft>
            </a:pPr>
            <a:endParaRPr lang="en-GB" sz="1200" dirty="0">
              <a:latin typeface="Google Sans" panose="020B0604020202020204" charset="0"/>
              <a:ea typeface="Google Sans" panose="020B0604020202020204" charset="0"/>
              <a:cs typeface="Google Sans" panose="020B0604020202020204" charset="0"/>
            </a:endParaRPr>
          </a:p>
          <a:p>
            <a:pPr lvl="0" algn="l" rtl="0">
              <a:spcBef>
                <a:spcPts val="0"/>
              </a:spcBef>
              <a:spcAft>
                <a:spcPts val="0"/>
              </a:spcAft>
            </a:pPr>
            <a:r>
              <a:rPr lang="en-GB" sz="1200" dirty="0">
                <a:latin typeface="Google Sans" panose="020B0604020202020204" charset="0"/>
                <a:ea typeface="Google Sans" panose="020B0604020202020204" charset="0"/>
                <a:cs typeface="Google Sans" panose="020B0604020202020204" charset="0"/>
              </a:rPr>
              <a:t>As the p-value is smaller than the significance level, the null hypothesis can be rejected. This means </a:t>
            </a:r>
            <a:r>
              <a:rPr lang="en-GB" sz="1200" b="1" dirty="0">
                <a:latin typeface="Google Sans" panose="020B0604020202020204" charset="0"/>
                <a:ea typeface="Google Sans" panose="020B0604020202020204" charset="0"/>
                <a:cs typeface="Google Sans" panose="020B0604020202020204" charset="0"/>
              </a:rPr>
              <a:t>there is a statistically significant difference in the average fare amount between customers who use credit cards and customers who use cash</a:t>
            </a:r>
            <a:r>
              <a:rPr lang="en-GB" sz="1200" dirty="0">
                <a:latin typeface="Google Sans" panose="020B0604020202020204" charset="0"/>
                <a:ea typeface="Google Sans" panose="020B0604020202020204" charset="0"/>
                <a:cs typeface="Google Sans" panose="020B0604020202020204" charset="0"/>
              </a:rPr>
              <a:t>.</a:t>
            </a:r>
          </a:p>
        </p:txBody>
      </p:sp>
      <p:pic>
        <p:nvPicPr>
          <p:cNvPr id="16" name="Picture 15">
            <a:extLst>
              <a:ext uri="{FF2B5EF4-FFF2-40B4-BE49-F238E27FC236}">
                <a16:creationId xmlns:a16="http://schemas.microsoft.com/office/drawing/2014/main" id="{E6F7D496-8AAF-B3AD-3468-6CDF4361A4F9}"/>
              </a:ext>
            </a:extLst>
          </p:cNvPr>
          <p:cNvPicPr>
            <a:picLocks noChangeAspect="1"/>
          </p:cNvPicPr>
          <p:nvPr/>
        </p:nvPicPr>
        <p:blipFill>
          <a:blip r:embed="rId3"/>
          <a:stretch>
            <a:fillRect/>
          </a:stretch>
        </p:blipFill>
        <p:spPr>
          <a:xfrm>
            <a:off x="3942375" y="3352799"/>
            <a:ext cx="3314700" cy="2282701"/>
          </a:xfrm>
          <a:prstGeom prst="rect">
            <a:avLst/>
          </a:prstGeom>
        </p:spPr>
      </p:pic>
      <p:sp>
        <p:nvSpPr>
          <p:cNvPr id="19" name="Google Shape;421;p17">
            <a:extLst>
              <a:ext uri="{FF2B5EF4-FFF2-40B4-BE49-F238E27FC236}">
                <a16:creationId xmlns:a16="http://schemas.microsoft.com/office/drawing/2014/main" id="{661A2046-F22A-2064-2C34-45252426B77A}"/>
              </a:ext>
            </a:extLst>
          </p:cNvPr>
          <p:cNvSpPr txBox="1"/>
          <p:nvPr/>
        </p:nvSpPr>
        <p:spPr>
          <a:xfrm>
            <a:off x="3373725" y="7682725"/>
            <a:ext cx="4223399" cy="129263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dirty="0">
                <a:latin typeface="Google Sans" panose="020B0604020202020204" charset="0"/>
                <a:ea typeface="Google Sans" panose="020B0604020202020204" charset="0"/>
                <a:cs typeface="Google Sans" panose="020B0604020202020204" charset="0"/>
              </a:rPr>
              <a:t>To determine whether payment by credit card should be encouraged in order to increase revenue, we recommend to first conduct a proper experiment where random riders are forced to either pay by credit card or with cash and determine whether the resulting mean fare amount is indeed different.</a:t>
            </a:r>
          </a:p>
        </p:txBody>
      </p:sp>
      <p:sp>
        <p:nvSpPr>
          <p:cNvPr id="21" name="TextBox 20">
            <a:extLst>
              <a:ext uri="{FF2B5EF4-FFF2-40B4-BE49-F238E27FC236}">
                <a16:creationId xmlns:a16="http://schemas.microsoft.com/office/drawing/2014/main" id="{C53C66A4-28DB-39AB-0487-F2C152740A43}"/>
              </a:ext>
            </a:extLst>
          </p:cNvPr>
          <p:cNvSpPr txBox="1"/>
          <p:nvPr/>
        </p:nvSpPr>
        <p:spPr>
          <a:xfrm>
            <a:off x="3373725" y="6050701"/>
            <a:ext cx="4095750" cy="830997"/>
          </a:xfrm>
          <a:prstGeom prst="rect">
            <a:avLst/>
          </a:prstGeom>
          <a:noFill/>
        </p:spPr>
        <p:txBody>
          <a:bodyPr wrap="square">
            <a:spAutoFit/>
          </a:bodyPr>
          <a:lstStyle/>
          <a:p>
            <a:pPr marL="0" lvl="0" indent="0" algn="l" rtl="0">
              <a:spcBef>
                <a:spcPts val="0"/>
              </a:spcBef>
              <a:spcAft>
                <a:spcPts val="0"/>
              </a:spcAft>
              <a:buNone/>
            </a:pPr>
            <a:r>
              <a:rPr lang="en-GB" sz="1200" dirty="0">
                <a:latin typeface="Google Sans" panose="020B0604020202020204" charset="0"/>
                <a:ea typeface="Google Sans" panose="020B0604020202020204" charset="0"/>
                <a:cs typeface="Google Sans" panose="020B0604020202020204" charset="0"/>
              </a:rPr>
              <a:t>The difference observed in the available data is likely due to the fact that people tend to not carry much cash on them, therefore fare amounts that are high will tend to be paid for using a credit card rather than cash.</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324</Words>
  <Application>Microsoft Office PowerPoint</Application>
  <PresentationFormat>Custom</PresentationFormat>
  <Paragraphs>20</Paragraphs>
  <Slides>1</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vt:i4>
      </vt:variant>
    </vt:vector>
  </HeadingPairs>
  <TitlesOfParts>
    <vt:vector size="11" baseType="lpstr">
      <vt:lpstr>Google Sans</vt:lpstr>
      <vt:lpstr>Calibri</vt:lpstr>
      <vt:lpstr>Arial</vt:lpstr>
      <vt:lpstr>Roboto</vt:lpstr>
      <vt:lpstr>Google Sans SemiBold</vt:lpstr>
      <vt:lpstr>PT Sans Narrow</vt:lpstr>
      <vt:lpstr>Lato</vt:lpstr>
      <vt:lpstr>Work Sans</vt:lpstr>
      <vt:lpstr>Simple Light</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David FitzGerald</cp:lastModifiedBy>
  <cp:revision>1</cp:revision>
  <dcterms:modified xsi:type="dcterms:W3CDTF">2026-03-04T10:54:29Z</dcterms:modified>
</cp:coreProperties>
</file>