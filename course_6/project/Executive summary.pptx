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 id="2147483662" r:id="rId2"/>
  </p:sldMasterIdLst>
  <p:notesMasterIdLst>
    <p:notesMasterId r:id="rId4"/>
  </p:notesMasterIdLst>
  <p:sldIdLst>
    <p:sldId id="262" r:id="rId3"/>
  </p:sldIdLst>
  <p:sldSz cx="7772400" cy="10058400"/>
  <p:notesSz cx="6858000" cy="9144000"/>
  <p:embeddedFontLst>
    <p:embeddedFont>
      <p:font typeface="Google Sans" panose="020B0604020202020204" charset="0"/>
      <p:regular r:id="rId5"/>
      <p:bold r:id="rId6"/>
      <p:italic r:id="rId7"/>
      <p:boldItalic r:id="rId8"/>
    </p:embeddedFont>
    <p:embeddedFont>
      <p:font typeface="Google Sans SemiBold" panose="020B0604020202020204" charset="0"/>
      <p:regular r:id="rId9"/>
      <p:bold r:id="rId10"/>
      <p:italic r:id="rId11"/>
      <p:boldItalic r:id="rId12"/>
    </p:embeddedFont>
    <p:embeddedFont>
      <p:font typeface="Lato" panose="020F0502020204030203" pitchFamily="34" charset="0"/>
      <p:regular r:id="rId13"/>
      <p:bold r:id="rId14"/>
      <p:italic r:id="rId15"/>
      <p:boldItalic r:id="rId16"/>
    </p:embeddedFont>
    <p:embeddedFont>
      <p:font typeface="PT Sans Narrow" panose="020B0506020203020204" pitchFamily="34" charset="0"/>
      <p:regular r:id="rId17"/>
      <p:bold r:id="rId18"/>
    </p:embeddedFont>
    <p:embeddedFont>
      <p:font typeface="Roboto" panose="02000000000000000000" pitchFamily="2" charset="0"/>
      <p:regular r:id="rId19"/>
      <p:bold r:id="rId20"/>
      <p:italic r:id="rId21"/>
      <p:boldItalic r:id="rId22"/>
    </p:embeddedFont>
    <p:embeddedFont>
      <p:font typeface="Work Sans"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43" y="-1080"/>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26" Type="http://schemas.openxmlformats.org/officeDocument/2006/relationships/font" Target="fonts/font22.fntdata"/><Relationship Id="rId3" Type="http://schemas.openxmlformats.org/officeDocument/2006/relationships/slide" Target="slides/slide1.xml"/><Relationship Id="rId21" Type="http://schemas.openxmlformats.org/officeDocument/2006/relationships/font" Target="fonts/font17.fntdata"/><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openxmlformats.org/officeDocument/2006/relationships/font" Target="fonts/font21.fntdata"/><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font" Target="fonts/font1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font" Target="fonts/font20.fntdata"/><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font" Target="fonts/font19.fntdata"/><Relationship Id="rId28" Type="http://schemas.openxmlformats.org/officeDocument/2006/relationships/viewProps" Target="viewProps.xml"/><Relationship Id="rId10" Type="http://schemas.openxmlformats.org/officeDocument/2006/relationships/font" Target="fonts/font6.fntdata"/><Relationship Id="rId19" Type="http://schemas.openxmlformats.org/officeDocument/2006/relationships/font" Target="fonts/font15.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font" Target="fonts/font1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CH"/>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1e3a6309cc6_3_34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H"/>
          </a:p>
        </p:txBody>
      </p:sp>
      <p:sp>
        <p:nvSpPr>
          <p:cNvPr id="466" name="Google Shape;466;g1e3a6309cc6_3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CH"/>
          </a:p>
        </p:txBody>
      </p:sp>
      <p:sp>
        <p:nvSpPr>
          <p:cNvPr id="64" name="Google Shape;64;p2"/>
          <p:cNvSpPr txBox="1"/>
          <p:nvPr/>
        </p:nvSpPr>
        <p:spPr>
          <a:xfrm>
            <a:off x="4541175" y="5895125"/>
            <a:ext cx="30744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5"/>
        <p:cNvGrpSpPr/>
        <p:nvPr/>
      </p:nvGrpSpPr>
      <p:grpSpPr>
        <a:xfrm>
          <a:off x="0" y="0"/>
          <a:ext cx="0" cy="0"/>
          <a:chOff x="0" y="0"/>
          <a:chExt cx="0" cy="0"/>
        </a:xfrm>
      </p:grpSpPr>
      <p:cxnSp>
        <p:nvCxnSpPr>
          <p:cNvPr id="66" name="Google Shape;66;p3"/>
          <p:cNvCxnSpPr/>
          <p:nvPr/>
        </p:nvCxnSpPr>
        <p:spPr>
          <a:xfrm>
            <a:off x="3049395" y="901911"/>
            <a:ext cx="0" cy="5924400"/>
          </a:xfrm>
          <a:prstGeom prst="straightConnector1">
            <a:avLst/>
          </a:prstGeom>
          <a:noFill/>
          <a:ln w="9525" cap="flat" cmpd="sng">
            <a:solidFill>
              <a:srgbClr val="CCCCCC"/>
            </a:solidFill>
            <a:prstDash val="solid"/>
            <a:round/>
            <a:headEnd type="none" w="med" len="med"/>
            <a:tailEnd type="none" w="med" len="med"/>
          </a:ln>
        </p:spPr>
      </p:cxnSp>
      <p:cxnSp>
        <p:nvCxnSpPr>
          <p:cNvPr id="67" name="Google Shape;67;p3"/>
          <p:cNvCxnSpPr>
            <a:stCxn id="68" idx="0"/>
          </p:cNvCxnSpPr>
          <p:nvPr/>
        </p:nvCxnSpPr>
        <p:spPr>
          <a:xfrm flipH="1">
            <a:off x="172045" y="903711"/>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69" name="Google Shape;69;p3"/>
          <p:cNvGrpSpPr/>
          <p:nvPr/>
        </p:nvGrpSpPr>
        <p:grpSpPr>
          <a:xfrm>
            <a:off x="190345" y="900758"/>
            <a:ext cx="7581747" cy="5906"/>
            <a:chOff x="1890075" y="5241175"/>
            <a:chExt cx="4240556" cy="257700"/>
          </a:xfrm>
        </p:grpSpPr>
        <p:sp>
          <p:nvSpPr>
            <p:cNvPr id="68" name="Google Shape;68;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9" name="Google Shape;79;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CH"/>
          </a:p>
        </p:txBody>
      </p:sp>
      <p:sp>
        <p:nvSpPr>
          <p:cNvPr id="80" name="Google Shape;80;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81" name="Google Shape;81;p3"/>
          <p:cNvSpPr/>
          <p:nvPr/>
        </p:nvSpPr>
        <p:spPr>
          <a:xfrm>
            <a:off x="190350" y="7617450"/>
            <a:ext cx="7581600" cy="2264100"/>
          </a:xfrm>
          <a:prstGeom prst="rect">
            <a:avLst/>
          </a:prstGeom>
          <a:solidFill>
            <a:srgbClr val="CC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 name="Google Shape;82;p3"/>
          <p:cNvCxnSpPr/>
          <p:nvPr/>
        </p:nvCxnSpPr>
        <p:spPr>
          <a:xfrm flipH="1">
            <a:off x="3028995" y="901911"/>
            <a:ext cx="20400" cy="8834400"/>
          </a:xfrm>
          <a:prstGeom prst="straightConnector1">
            <a:avLst/>
          </a:prstGeom>
          <a:noFill/>
          <a:ln w="9525" cap="flat" cmpd="sng">
            <a:solidFill>
              <a:srgbClr val="CCCCCC"/>
            </a:solidFill>
            <a:prstDash val="solid"/>
            <a:round/>
            <a:headEnd type="none" w="med" len="med"/>
            <a:tailEnd type="none" w="med" len="med"/>
          </a:ln>
        </p:spPr>
      </p:cxnSp>
      <p:cxnSp>
        <p:nvCxnSpPr>
          <p:cNvPr id="83" name="Google Shape;83;p3"/>
          <p:cNvCxnSpPr>
            <a:stCxn id="84" idx="0"/>
          </p:cNvCxnSpPr>
          <p:nvPr/>
        </p:nvCxnSpPr>
        <p:spPr>
          <a:xfrm flipH="1">
            <a:off x="172020" y="903608"/>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85" name="Google Shape;85;p3"/>
          <p:cNvGrpSpPr/>
          <p:nvPr/>
        </p:nvGrpSpPr>
        <p:grpSpPr>
          <a:xfrm>
            <a:off x="190320" y="900657"/>
            <a:ext cx="7581691" cy="5901"/>
            <a:chOff x="1890075" y="5241175"/>
            <a:chExt cx="4240556" cy="257700"/>
          </a:xfrm>
        </p:grpSpPr>
        <p:sp>
          <p:nvSpPr>
            <p:cNvPr id="84" name="Google Shape;8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7" name="Google Shape;87;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8" name="Google Shape;88;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9" name="Google Shape;89;p3"/>
          <p:cNvGrpSpPr/>
          <p:nvPr/>
        </p:nvGrpSpPr>
        <p:grpSpPr>
          <a:xfrm>
            <a:off x="190320" y="931759"/>
            <a:ext cx="7581691" cy="5901"/>
            <a:chOff x="1890075" y="5241175"/>
            <a:chExt cx="4240556" cy="257700"/>
          </a:xfrm>
        </p:grpSpPr>
        <p:sp>
          <p:nvSpPr>
            <p:cNvPr id="90" name="Google Shape;90;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1" name="Google Shape;91;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2" name="Google Shape;92;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3" name="Google Shape;93;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94" name="Google Shape;94;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95" name="Google Shape;95;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6" name="Google Shape;96;p3"/>
          <p:cNvGrpSpPr/>
          <p:nvPr/>
        </p:nvGrpSpPr>
        <p:grpSpPr>
          <a:xfrm>
            <a:off x="172024" y="1040825"/>
            <a:ext cx="137818" cy="187200"/>
            <a:chOff x="507100" y="1997600"/>
            <a:chExt cx="158375" cy="187200"/>
          </a:xfrm>
        </p:grpSpPr>
        <p:sp>
          <p:nvSpPr>
            <p:cNvPr id="97" name="Google Shape;97;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07100" y="2017025"/>
              <a:ext cx="135900" cy="146700"/>
            </a:xfrm>
            <a:prstGeom prst="chevron">
              <a:avLst>
                <a:gd name="adj" fmla="val 50000"/>
              </a:avLst>
            </a:prstGeom>
            <a:solidFill>
              <a:srgbClr val="0000F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100" name="Google Shape;100;p3"/>
          <p:cNvGrpSpPr/>
          <p:nvPr/>
        </p:nvGrpSpPr>
        <p:grpSpPr>
          <a:xfrm>
            <a:off x="190349" y="2907725"/>
            <a:ext cx="137818" cy="187200"/>
            <a:chOff x="507100" y="1540400"/>
            <a:chExt cx="158375" cy="187200"/>
          </a:xfrm>
        </p:grpSpPr>
        <p:sp>
          <p:nvSpPr>
            <p:cNvPr id="101" name="Google Shape;101;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07100" y="1559825"/>
              <a:ext cx="135900" cy="146700"/>
            </a:xfrm>
            <a:prstGeom prst="chevron">
              <a:avLst>
                <a:gd name="adj" fmla="val 50000"/>
              </a:avLst>
            </a:prstGeom>
            <a:solidFill>
              <a:srgbClr val="FF00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4" name="Google Shape;104;p3"/>
          <p:cNvGrpSpPr/>
          <p:nvPr/>
        </p:nvGrpSpPr>
        <p:grpSpPr>
          <a:xfrm>
            <a:off x="172024" y="5506200"/>
            <a:ext cx="137818" cy="187200"/>
            <a:chOff x="507100" y="1997600"/>
            <a:chExt cx="158375" cy="187200"/>
          </a:xfrm>
        </p:grpSpPr>
        <p:sp>
          <p:nvSpPr>
            <p:cNvPr id="105" name="Google Shape;105;p3"/>
            <p:cNvSpPr/>
            <p:nvPr/>
          </p:nvSpPr>
          <p:spPr>
            <a:xfrm>
              <a:off x="529575" y="1997600"/>
              <a:ext cx="135900" cy="187200"/>
            </a:xfrm>
            <a:prstGeom prst="chevron">
              <a:avLst>
                <a:gd name="adj" fmla="val 50000"/>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507100" y="2017025"/>
              <a:ext cx="135900" cy="146700"/>
            </a:xfrm>
            <a:prstGeom prst="chevron">
              <a:avLst>
                <a:gd name="adj" fmla="val 50000"/>
              </a:avLst>
            </a:prstGeom>
            <a:solidFill>
              <a:srgbClr val="FFFF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8" name="Google Shape;108;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9" name="Google Shape;109;p3"/>
          <p:cNvGrpSpPr/>
          <p:nvPr/>
        </p:nvGrpSpPr>
        <p:grpSpPr>
          <a:xfrm>
            <a:off x="172024" y="7607808"/>
            <a:ext cx="137818" cy="187200"/>
            <a:chOff x="507100" y="1997600"/>
            <a:chExt cx="158375" cy="187200"/>
          </a:xfrm>
        </p:grpSpPr>
        <p:sp>
          <p:nvSpPr>
            <p:cNvPr id="110" name="Google Shape;110;p3"/>
            <p:cNvSpPr/>
            <p:nvPr/>
          </p:nvSpPr>
          <p:spPr>
            <a:xfrm>
              <a:off x="529575" y="1997600"/>
              <a:ext cx="135900" cy="187200"/>
            </a:xfrm>
            <a:prstGeom prst="chevron">
              <a:avLst>
                <a:gd name="adj" fmla="val 50000"/>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507100" y="2017025"/>
              <a:ext cx="135900" cy="146700"/>
            </a:xfrm>
            <a:prstGeom prst="chevron">
              <a:avLst>
                <a:gd name="adj" fmla="val 50000"/>
              </a:avLst>
            </a:prstGeom>
            <a:solidFill>
              <a:srgbClr val="38761D"/>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 name="Google Shape;112;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CH"/>
          </a:p>
        </p:txBody>
      </p:sp>
      <p:sp>
        <p:nvSpPr>
          <p:cNvPr id="113" name="Google Shape;113;p3"/>
          <p:cNvSpPr txBox="1"/>
          <p:nvPr/>
        </p:nvSpPr>
        <p:spPr>
          <a:xfrm>
            <a:off x="159875" y="60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14" name="Google Shape;114;p3"/>
          <p:cNvSpPr txBox="1"/>
          <p:nvPr/>
        </p:nvSpPr>
        <p:spPr>
          <a:xfrm>
            <a:off x="1763100" y="4908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15" name="Google Shape;115;p3"/>
          <p:cNvSpPr txBox="1"/>
          <p:nvPr/>
        </p:nvSpPr>
        <p:spPr>
          <a:xfrm>
            <a:off x="3483688" y="403875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
        <p:nvSpPr>
          <p:cNvPr id="116" name="Google Shape;116;p3"/>
          <p:cNvSpPr txBox="1"/>
          <p:nvPr/>
        </p:nvSpPr>
        <p:spPr>
          <a:xfrm>
            <a:off x="3986375" y="71865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17"/>
        <p:cNvGrpSpPr/>
        <p:nvPr/>
      </p:nvGrpSpPr>
      <p:grpSpPr>
        <a:xfrm>
          <a:off x="0" y="0"/>
          <a:ext cx="0" cy="0"/>
          <a:chOff x="0" y="0"/>
          <a:chExt cx="0" cy="0"/>
        </a:xfrm>
      </p:grpSpPr>
      <p:cxnSp>
        <p:nvCxnSpPr>
          <p:cNvPr id="118" name="Google Shape;118;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19" name="Google Shape;119;p4"/>
          <p:cNvGrpSpPr/>
          <p:nvPr/>
        </p:nvGrpSpPr>
        <p:grpSpPr>
          <a:xfrm>
            <a:off x="404725" y="1300475"/>
            <a:ext cx="6908400" cy="72025"/>
            <a:chOff x="404725" y="1681475"/>
            <a:chExt cx="6908400" cy="72025"/>
          </a:xfrm>
        </p:grpSpPr>
        <p:cxnSp>
          <p:nvCxnSpPr>
            <p:cNvPr id="120" name="Google Shape;120;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21" name="Google Shape;121;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22" name="Google Shape;122;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23" name="Google Shape;123;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24" name="Google Shape;124;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25" name="Google Shape;125;p4"/>
          <p:cNvGrpSpPr/>
          <p:nvPr/>
        </p:nvGrpSpPr>
        <p:grpSpPr>
          <a:xfrm>
            <a:off x="417975" y="1504250"/>
            <a:ext cx="2357775" cy="410125"/>
            <a:chOff x="417975" y="1885250"/>
            <a:chExt cx="2357775" cy="410125"/>
          </a:xfrm>
        </p:grpSpPr>
        <p:sp>
          <p:nvSpPr>
            <p:cNvPr id="126" name="Google Shape;126;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417975" y="3276600"/>
            <a:ext cx="2357775" cy="410125"/>
            <a:chOff x="265575" y="3352800"/>
            <a:chExt cx="2357775" cy="410125"/>
          </a:xfrm>
        </p:grpSpPr>
        <p:sp>
          <p:nvSpPr>
            <p:cNvPr id="131" name="Google Shape;131;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4"/>
          <p:cNvGrpSpPr/>
          <p:nvPr/>
        </p:nvGrpSpPr>
        <p:grpSpPr>
          <a:xfrm>
            <a:off x="3872044" y="3276600"/>
            <a:ext cx="2747987" cy="410125"/>
            <a:chOff x="3567313" y="3200400"/>
            <a:chExt cx="2357775" cy="410125"/>
          </a:xfrm>
        </p:grpSpPr>
        <p:sp>
          <p:nvSpPr>
            <p:cNvPr id="136" name="Google Shape;136;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4"/>
          <p:cNvGrpSpPr/>
          <p:nvPr/>
        </p:nvGrpSpPr>
        <p:grpSpPr>
          <a:xfrm>
            <a:off x="417963" y="6597750"/>
            <a:ext cx="2357775" cy="410125"/>
            <a:chOff x="-39237" y="6140550"/>
            <a:chExt cx="2357775" cy="410125"/>
          </a:xfrm>
        </p:grpSpPr>
        <p:sp>
          <p:nvSpPr>
            <p:cNvPr id="141" name="Google Shape;141;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 name="Google Shape;145;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6" name="Google Shape;146;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7" name="Google Shape;147;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8" name="Google Shape;148;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9" name="Google Shape;149;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0" name="Google Shape;150;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1" name="Google Shape;151;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2" name="Google Shape;152;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3" name="Google Shape;153;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154" name="Google Shape;154;p4"/>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55" name="Google Shape;155;p4"/>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6" name="Google Shape;156;p4"/>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CH"/>
          </a:p>
        </p:txBody>
      </p:sp>
      <p:sp>
        <p:nvSpPr>
          <p:cNvPr id="157" name="Google Shape;157;p4"/>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58"/>
        <p:cNvGrpSpPr/>
        <p:nvPr/>
      </p:nvGrpSpPr>
      <p:grpSpPr>
        <a:xfrm>
          <a:off x="0" y="0"/>
          <a:ext cx="0" cy="0"/>
          <a:chOff x="0" y="0"/>
          <a:chExt cx="0" cy="0"/>
        </a:xfrm>
      </p:grpSpPr>
      <p:sp>
        <p:nvSpPr>
          <p:cNvPr id="159" name="Google Shape;159;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60" name="Google Shape;160;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61" name="Google Shape;161;p5"/>
          <p:cNvGrpSpPr/>
          <p:nvPr/>
        </p:nvGrpSpPr>
        <p:grpSpPr>
          <a:xfrm>
            <a:off x="95351" y="1392509"/>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66" name="Google Shape;166;p5"/>
          <p:cNvGrpSpPr/>
          <p:nvPr/>
        </p:nvGrpSpPr>
        <p:grpSpPr>
          <a:xfrm>
            <a:off x="95351" y="4542984"/>
            <a:ext cx="7581691" cy="5901"/>
            <a:chOff x="1890075" y="5241175"/>
            <a:chExt cx="4240556" cy="257700"/>
          </a:xfrm>
        </p:grpSpPr>
        <p:sp>
          <p:nvSpPr>
            <p:cNvPr id="167" name="Google Shape;16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8" name="Google Shape;16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9" name="Google Shape;16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0" name="Google Shape;17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71" name="Google Shape;171;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72" name="Google Shape;172;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73" name="Google Shape;173;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74" name="Google Shape;174;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5" name="Google Shape;175;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6" name="Google Shape;176;p5"/>
          <p:cNvGrpSpPr/>
          <p:nvPr/>
        </p:nvGrpSpPr>
        <p:grpSpPr>
          <a:xfrm>
            <a:off x="95351" y="8200359"/>
            <a:ext cx="7581691" cy="5901"/>
            <a:chOff x="1890075" y="5241175"/>
            <a:chExt cx="4240556" cy="257700"/>
          </a:xfrm>
        </p:grpSpPr>
        <p:sp>
          <p:nvSpPr>
            <p:cNvPr id="177" name="Google Shape;17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8" name="Google Shape;17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9" name="Google Shape;17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80" name="Google Shape;18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81" name="Google Shape;181;p5"/>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82" name="Google Shape;182;p5"/>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83" name="Google Shape;183;p5"/>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CH"/>
          </a:p>
        </p:txBody>
      </p:sp>
      <p:sp>
        <p:nvSpPr>
          <p:cNvPr id="184" name="Google Shape;184;p5"/>
          <p:cNvSpPr txBox="1"/>
          <p:nvPr/>
        </p:nvSpPr>
        <p:spPr>
          <a:xfrm>
            <a:off x="4326325" y="74569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85"/>
        <p:cNvGrpSpPr/>
        <p:nvPr/>
      </p:nvGrpSpPr>
      <p:grpSpPr>
        <a:xfrm>
          <a:off x="0" y="0"/>
          <a:ext cx="0" cy="0"/>
          <a:chOff x="0" y="0"/>
          <a:chExt cx="0" cy="0"/>
        </a:xfrm>
      </p:grpSpPr>
      <p:sp>
        <p:nvSpPr>
          <p:cNvPr id="186" name="Google Shape;186;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87" name="Google Shape;187;p6"/>
          <p:cNvGrpSpPr/>
          <p:nvPr/>
        </p:nvGrpSpPr>
        <p:grpSpPr>
          <a:xfrm>
            <a:off x="-16250" y="9048087"/>
            <a:ext cx="7804900" cy="1072407"/>
            <a:chOff x="-19118" y="4617750"/>
            <a:chExt cx="9182236" cy="548378"/>
          </a:xfrm>
        </p:grpSpPr>
        <p:sp>
          <p:nvSpPr>
            <p:cNvPr id="188" name="Google Shape;188;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txBody>
            <a:bodyPr/>
            <a:lstStyle/>
            <a:p>
              <a:endParaRPr lang="en-CH"/>
            </a:p>
          </p:txBody>
        </p:sp>
        <p:sp>
          <p:nvSpPr>
            <p:cNvPr id="189" name="Google Shape;189;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txBody>
            <a:bodyPr/>
            <a:lstStyle/>
            <a:p>
              <a:endParaRPr lang="en-CH"/>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9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 6">
  <p:cSld name="CUSTOM_2_2">
    <p:spTree>
      <p:nvGrpSpPr>
        <p:cNvPr id="1" name="Shape 387"/>
        <p:cNvGrpSpPr/>
        <p:nvPr/>
      </p:nvGrpSpPr>
      <p:grpSpPr>
        <a:xfrm>
          <a:off x="0" y="0"/>
          <a:ext cx="0" cy="0"/>
          <a:chOff x="0" y="0"/>
          <a:chExt cx="0" cy="0"/>
        </a:xfrm>
      </p:grpSpPr>
      <p:grpSp>
        <p:nvGrpSpPr>
          <p:cNvPr id="390" name="Google Shape;390;p15"/>
          <p:cNvGrpSpPr/>
          <p:nvPr/>
        </p:nvGrpSpPr>
        <p:grpSpPr>
          <a:xfrm>
            <a:off x="95351" y="920069"/>
            <a:ext cx="7581691" cy="5901"/>
            <a:chOff x="1890075" y="5241175"/>
            <a:chExt cx="4240556" cy="257700"/>
          </a:xfrm>
        </p:grpSpPr>
        <p:sp>
          <p:nvSpPr>
            <p:cNvPr id="391" name="Google Shape;391;p1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2" name="Google Shape;392;p1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3" name="Google Shape;393;p1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4" name="Google Shape;394;p1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95" name="Google Shape;395;p15"/>
          <p:cNvGrpSpPr/>
          <p:nvPr/>
        </p:nvGrpSpPr>
        <p:grpSpPr>
          <a:xfrm>
            <a:off x="95351" y="3423939"/>
            <a:ext cx="7581691" cy="5901"/>
            <a:chOff x="1890075" y="5241175"/>
            <a:chExt cx="4240556" cy="257700"/>
          </a:xfrm>
        </p:grpSpPr>
        <p:sp>
          <p:nvSpPr>
            <p:cNvPr id="396" name="Google Shape;396;p1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7" name="Google Shape;397;p1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8" name="Google Shape;398;p1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9" name="Google Shape;399;p1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400" name="Google Shape;400;p15"/>
          <p:cNvSpPr/>
          <p:nvPr/>
        </p:nvSpPr>
        <p:spPr>
          <a:xfrm>
            <a:off x="432000" y="115191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chemeClr val="lt2">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401" name="Google Shape;401;p15"/>
          <p:cNvSpPr/>
          <p:nvPr/>
        </p:nvSpPr>
        <p:spPr>
          <a:xfrm>
            <a:off x="432000" y="2293420"/>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chemeClr val="dk1"/>
                </a:solidFill>
                <a:latin typeface="Google Sans"/>
                <a:ea typeface="Google Sans"/>
                <a:cs typeface="Google Sans"/>
                <a:sym typeface="Google Sans"/>
              </a:rPr>
              <a:t>Objective</a:t>
            </a:r>
            <a:endParaRPr b="1" dirty="0">
              <a:solidFill>
                <a:schemeClr val="dk1"/>
              </a:solidFill>
              <a:latin typeface="Google Sans"/>
              <a:ea typeface="Google Sans"/>
              <a:cs typeface="Google Sans"/>
              <a:sym typeface="Google Sans"/>
            </a:endParaRPr>
          </a:p>
        </p:txBody>
      </p:sp>
      <p:sp>
        <p:nvSpPr>
          <p:cNvPr id="402" name="Google Shape;402;p15"/>
          <p:cNvSpPr/>
          <p:nvPr/>
        </p:nvSpPr>
        <p:spPr>
          <a:xfrm>
            <a:off x="432000" y="3664743"/>
            <a:ext cx="1598400" cy="2850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chemeClr val="dk1"/>
                </a:solidFill>
                <a:latin typeface="Google Sans"/>
                <a:ea typeface="Google Sans"/>
                <a:cs typeface="Google Sans"/>
                <a:sym typeface="Google Sans"/>
              </a:rPr>
              <a:t>Results </a:t>
            </a:r>
            <a:endParaRPr b="1" dirty="0">
              <a:solidFill>
                <a:schemeClr val="dk1"/>
              </a:solidFill>
              <a:latin typeface="Google Sans"/>
              <a:ea typeface="Google Sans"/>
              <a:cs typeface="Google Sans"/>
              <a:sym typeface="Google Sans"/>
            </a:endParaRPr>
          </a:p>
        </p:txBody>
      </p:sp>
      <p:sp>
        <p:nvSpPr>
          <p:cNvPr id="403" name="Google Shape;403;p15"/>
          <p:cNvSpPr/>
          <p:nvPr/>
        </p:nvSpPr>
        <p:spPr>
          <a:xfrm>
            <a:off x="432000" y="8576744"/>
            <a:ext cx="1598400" cy="2691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404" name="Google Shape;404;p15"/>
          <p:cNvGrpSpPr/>
          <p:nvPr/>
        </p:nvGrpSpPr>
        <p:grpSpPr>
          <a:xfrm>
            <a:off x="95351" y="8404333"/>
            <a:ext cx="7581691" cy="5901"/>
            <a:chOff x="1890075" y="5241175"/>
            <a:chExt cx="4240556" cy="257700"/>
          </a:xfrm>
        </p:grpSpPr>
        <p:sp>
          <p:nvSpPr>
            <p:cNvPr id="405" name="Google Shape;405;p1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06" name="Google Shape;406;p1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07" name="Google Shape;407;p1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08" name="Google Shape;408;p1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409" name="Google Shape;409;p15"/>
          <p:cNvSpPr>
            <a:spLocks noGrp="1"/>
          </p:cNvSpPr>
          <p:nvPr>
            <p:ph type="pic" idx="2"/>
          </p:nvPr>
        </p:nvSpPr>
        <p:spPr>
          <a:xfrm>
            <a:off x="4467025" y="5862300"/>
            <a:ext cx="3006900" cy="204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a:lstStyle/>
          <a:p>
            <a:endParaRPr lang="en-CH"/>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91"/>
        <p:cNvGrpSpPr/>
        <p:nvPr/>
      </p:nvGrpSpPr>
      <p:grpSpPr>
        <a:xfrm>
          <a:off x="0" y="0"/>
          <a:ext cx="0" cy="0"/>
          <a:chOff x="0" y="0"/>
          <a:chExt cx="0" cy="0"/>
        </a:xfrm>
      </p:grpSpPr>
      <p:sp>
        <p:nvSpPr>
          <p:cNvPr id="192" name="Google Shape;192;p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93" name="Google Shape;193;p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194" name="Google Shape;194;p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95" name="Google Shape;195;p8"/>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grpSp>
        <p:nvGrpSpPr>
          <p:cNvPr id="468" name="Google Shape;468;p22"/>
          <p:cNvGrpSpPr/>
          <p:nvPr/>
        </p:nvGrpSpPr>
        <p:grpSpPr>
          <a:xfrm>
            <a:off x="188700" y="171333"/>
            <a:ext cx="7344214" cy="771300"/>
            <a:chOff x="188700" y="665125"/>
            <a:chExt cx="5190000" cy="771300"/>
          </a:xfrm>
        </p:grpSpPr>
        <p:sp>
          <p:nvSpPr>
            <p:cNvPr id="469" name="Google Shape;469;p22"/>
            <p:cNvSpPr txBox="1"/>
            <p:nvPr/>
          </p:nvSpPr>
          <p:spPr>
            <a:xfrm>
              <a:off x="188700" y="665125"/>
              <a:ext cx="5190000" cy="7713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p>
              <a:pPr marL="0" lvl="0" indent="0" algn="l" rtl="0">
                <a:lnSpc>
                  <a:spcPct val="95000"/>
                </a:lnSpc>
                <a:spcBef>
                  <a:spcPts val="0"/>
                </a:spcBef>
                <a:spcAft>
                  <a:spcPts val="0"/>
                </a:spcAft>
                <a:buNone/>
              </a:pPr>
              <a:r>
                <a:rPr lang="en" sz="1600" b="1" dirty="0">
                  <a:latin typeface="Google Sans SemiBold"/>
                  <a:ea typeface="Google Sans SemiBold"/>
                  <a:cs typeface="Google Sans SemiBold"/>
                  <a:sym typeface="Google Sans SemiBold"/>
                </a:rPr>
                <a:t>Machine Learning Model for predicting tipping</a:t>
              </a:r>
              <a:endParaRPr sz="1900" dirty="0">
                <a:solidFill>
                  <a:srgbClr val="000000"/>
                </a:solidFill>
                <a:latin typeface="Google Sans SemiBold"/>
                <a:ea typeface="Google Sans SemiBold"/>
                <a:cs typeface="Google Sans SemiBold"/>
                <a:sym typeface="Google Sans SemiBold"/>
              </a:endParaRPr>
            </a:p>
          </p:txBody>
        </p:sp>
        <p:sp>
          <p:nvSpPr>
            <p:cNvPr id="470" name="Google Shape;470;p22"/>
            <p:cNvSpPr txBox="1"/>
            <p:nvPr/>
          </p:nvSpPr>
          <p:spPr>
            <a:xfrm>
              <a:off x="188700" y="1036225"/>
              <a:ext cx="35169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dirty="0">
                  <a:solidFill>
                    <a:srgbClr val="000000"/>
                  </a:solidFill>
                  <a:latin typeface="Roboto"/>
                  <a:ea typeface="Roboto"/>
                  <a:cs typeface="Roboto"/>
                  <a:sym typeface="Roboto"/>
                </a:rPr>
                <a:t>Is it possible to identify customers who give generous tips?</a:t>
              </a:r>
              <a:endParaRPr dirty="0">
                <a:solidFill>
                  <a:srgbClr val="000000"/>
                </a:solidFill>
                <a:latin typeface="Roboto"/>
                <a:ea typeface="Roboto"/>
                <a:cs typeface="Roboto"/>
                <a:sym typeface="Roboto"/>
              </a:endParaRPr>
            </a:p>
          </p:txBody>
        </p:sp>
      </p:grpSp>
      <p:sp>
        <p:nvSpPr>
          <p:cNvPr id="3" name="TextBox 2">
            <a:extLst>
              <a:ext uri="{FF2B5EF4-FFF2-40B4-BE49-F238E27FC236}">
                <a16:creationId xmlns:a16="http://schemas.microsoft.com/office/drawing/2014/main" id="{B4791E47-AECE-0730-5DD2-5EA08BD3EFD0}"/>
              </a:ext>
            </a:extLst>
          </p:cNvPr>
          <p:cNvSpPr txBox="1"/>
          <p:nvPr/>
        </p:nvSpPr>
        <p:spPr>
          <a:xfrm>
            <a:off x="188700" y="1416503"/>
            <a:ext cx="7344214" cy="646331"/>
          </a:xfrm>
          <a:prstGeom prst="rect">
            <a:avLst/>
          </a:prstGeom>
          <a:noFill/>
        </p:spPr>
        <p:txBody>
          <a:bodyPr wrap="square" rtlCol="0">
            <a:spAutoFit/>
          </a:bodyPr>
          <a:lstStyle/>
          <a:p>
            <a:r>
              <a:rPr lang="en-GB" sz="1200" dirty="0">
                <a:latin typeface="Google Sans" panose="020B0604020202020204" charset="0"/>
                <a:ea typeface="Google Sans" panose="020B0604020202020204" charset="0"/>
                <a:cs typeface="Google Sans" panose="020B0604020202020204" charset="0"/>
              </a:rPr>
              <a:t>The income of taxi drivers depends on tips given by their customers. Therefore, to help them increase the amount of tips they receive, it would be beneficial for them to know before accepting to take a customer, whether that customer is likely to give them a generous tip or not.</a:t>
            </a:r>
            <a:endParaRPr lang="en-CH" sz="1200" dirty="0">
              <a:latin typeface="Google Sans" panose="020B0604020202020204" charset="0"/>
              <a:ea typeface="Google Sans" panose="020B0604020202020204" charset="0"/>
              <a:cs typeface="Google Sans" panose="020B0604020202020204" charset="0"/>
            </a:endParaRPr>
          </a:p>
        </p:txBody>
      </p:sp>
      <p:sp>
        <p:nvSpPr>
          <p:cNvPr id="4" name="TextBox 3">
            <a:extLst>
              <a:ext uri="{FF2B5EF4-FFF2-40B4-BE49-F238E27FC236}">
                <a16:creationId xmlns:a16="http://schemas.microsoft.com/office/drawing/2014/main" id="{5B97FACF-F5A3-5ED1-C9DE-8E717DEDC1FC}"/>
              </a:ext>
            </a:extLst>
          </p:cNvPr>
          <p:cNvSpPr txBox="1"/>
          <p:nvPr/>
        </p:nvSpPr>
        <p:spPr>
          <a:xfrm>
            <a:off x="188700" y="2594084"/>
            <a:ext cx="7344214" cy="646331"/>
          </a:xfrm>
          <a:prstGeom prst="rect">
            <a:avLst/>
          </a:prstGeom>
          <a:noFill/>
        </p:spPr>
        <p:txBody>
          <a:bodyPr wrap="square" rtlCol="0">
            <a:spAutoFit/>
          </a:bodyPr>
          <a:lstStyle/>
          <a:p>
            <a:r>
              <a:rPr lang="en-GB" sz="1200" dirty="0">
                <a:latin typeface="Google Sans" panose="020B0604020202020204" charset="0"/>
                <a:ea typeface="Google Sans" panose="020B0604020202020204" charset="0"/>
                <a:cs typeface="Google Sans" panose="020B0604020202020204" charset="0"/>
              </a:rPr>
              <a:t>The purpose of this project was to develop a machine learning model that can accurately predict whether a customer is a generous tipper. A “generous” tip was specified as being 20% or more of the total fare amount.</a:t>
            </a:r>
          </a:p>
        </p:txBody>
      </p:sp>
      <p:sp>
        <p:nvSpPr>
          <p:cNvPr id="5" name="TextBox 4">
            <a:extLst>
              <a:ext uri="{FF2B5EF4-FFF2-40B4-BE49-F238E27FC236}">
                <a16:creationId xmlns:a16="http://schemas.microsoft.com/office/drawing/2014/main" id="{F2D6DEF6-369D-FD89-9D42-C8B2BA6B0A3B}"/>
              </a:ext>
            </a:extLst>
          </p:cNvPr>
          <p:cNvSpPr txBox="1"/>
          <p:nvPr/>
        </p:nvSpPr>
        <p:spPr>
          <a:xfrm>
            <a:off x="188700" y="3949544"/>
            <a:ext cx="7344214" cy="646331"/>
          </a:xfrm>
          <a:prstGeom prst="rect">
            <a:avLst/>
          </a:prstGeom>
          <a:noFill/>
        </p:spPr>
        <p:txBody>
          <a:bodyPr wrap="square" rtlCol="0">
            <a:spAutoFit/>
          </a:bodyPr>
          <a:lstStyle/>
          <a:p>
            <a:r>
              <a:rPr lang="en-GB" sz="1200" dirty="0">
                <a:latin typeface="Google Sans" panose="020B0604020202020204" charset="0"/>
                <a:ea typeface="Google Sans" panose="020B0604020202020204" charset="0"/>
                <a:cs typeface="Google Sans" panose="020B0604020202020204" charset="0"/>
              </a:rPr>
              <a:t>Two models were trained and evaluated: a </a:t>
            </a:r>
            <a:r>
              <a:rPr lang="en-GB" sz="1200" b="1" dirty="0">
                <a:latin typeface="Google Sans" panose="020B0604020202020204" charset="0"/>
                <a:ea typeface="Google Sans" panose="020B0604020202020204" charset="0"/>
                <a:cs typeface="Google Sans" panose="020B0604020202020204" charset="0"/>
              </a:rPr>
              <a:t>random forest</a:t>
            </a:r>
            <a:r>
              <a:rPr lang="en-GB" sz="1200" dirty="0">
                <a:latin typeface="Google Sans" panose="020B0604020202020204" charset="0"/>
                <a:ea typeface="Google Sans" panose="020B0604020202020204" charset="0"/>
                <a:cs typeface="Google Sans" panose="020B0604020202020204" charset="0"/>
              </a:rPr>
              <a:t> classifier and an </a:t>
            </a:r>
            <a:r>
              <a:rPr lang="en-GB" sz="1200" b="1" dirty="0">
                <a:latin typeface="Google Sans" panose="020B0604020202020204" charset="0"/>
                <a:ea typeface="Google Sans" panose="020B0604020202020204" charset="0"/>
                <a:cs typeface="Google Sans" panose="020B0604020202020204" charset="0"/>
              </a:rPr>
              <a:t>XGBoost</a:t>
            </a:r>
            <a:r>
              <a:rPr lang="en-GB" sz="1200" dirty="0">
                <a:latin typeface="Google Sans" panose="020B0604020202020204" charset="0"/>
                <a:ea typeface="Google Sans" panose="020B0604020202020204" charset="0"/>
                <a:cs typeface="Google Sans" panose="020B0604020202020204" charset="0"/>
              </a:rPr>
              <a:t> model. The training was carried out with a </a:t>
            </a:r>
            <a:r>
              <a:rPr lang="en-GB" sz="1200" b="1" dirty="0">
                <a:latin typeface="Google Sans" panose="020B0604020202020204" charset="0"/>
                <a:ea typeface="Google Sans" panose="020B0604020202020204" charset="0"/>
                <a:cs typeface="Google Sans" panose="020B0604020202020204" charset="0"/>
              </a:rPr>
              <a:t>grid search</a:t>
            </a:r>
            <a:r>
              <a:rPr lang="en-GB" sz="1200" dirty="0">
                <a:latin typeface="Google Sans" panose="020B0604020202020204" charset="0"/>
                <a:ea typeface="Google Sans" panose="020B0604020202020204" charset="0"/>
                <a:cs typeface="Google Sans" panose="020B0604020202020204" charset="0"/>
              </a:rPr>
              <a:t> using </a:t>
            </a:r>
            <a:r>
              <a:rPr lang="en-GB" sz="1200" b="1" dirty="0">
                <a:latin typeface="Google Sans" panose="020B0604020202020204" charset="0"/>
                <a:ea typeface="Google Sans" panose="020B0604020202020204" charset="0"/>
                <a:cs typeface="Google Sans" panose="020B0604020202020204" charset="0"/>
              </a:rPr>
              <a:t>cross-validation</a:t>
            </a:r>
            <a:r>
              <a:rPr lang="en-GB" sz="1200" dirty="0">
                <a:latin typeface="Google Sans" panose="020B0604020202020204" charset="0"/>
                <a:ea typeface="Google Sans" panose="020B0604020202020204" charset="0"/>
                <a:cs typeface="Google Sans" panose="020B0604020202020204" charset="0"/>
              </a:rPr>
              <a:t>, using a limited number of features that are mostly related to pick-up and drop-off locations, and the day and time of pick-up.</a:t>
            </a:r>
          </a:p>
        </p:txBody>
      </p:sp>
      <p:sp>
        <p:nvSpPr>
          <p:cNvPr id="6" name="TextBox 5">
            <a:extLst>
              <a:ext uri="{FF2B5EF4-FFF2-40B4-BE49-F238E27FC236}">
                <a16:creationId xmlns:a16="http://schemas.microsoft.com/office/drawing/2014/main" id="{1D01C421-9BFD-A0E1-9062-7F892AC5D0B8}"/>
              </a:ext>
            </a:extLst>
          </p:cNvPr>
          <p:cNvSpPr txBox="1"/>
          <p:nvPr/>
        </p:nvSpPr>
        <p:spPr>
          <a:xfrm>
            <a:off x="188699" y="4557358"/>
            <a:ext cx="4410515" cy="461665"/>
          </a:xfrm>
          <a:prstGeom prst="rect">
            <a:avLst/>
          </a:prstGeom>
          <a:noFill/>
        </p:spPr>
        <p:txBody>
          <a:bodyPr wrap="square" rtlCol="0">
            <a:spAutoFit/>
          </a:bodyPr>
          <a:lstStyle/>
          <a:p>
            <a:r>
              <a:rPr lang="en-GB" sz="1200" dirty="0">
                <a:latin typeface="Google Sans" panose="020B0604020202020204" charset="0"/>
                <a:ea typeface="Google Sans" panose="020B0604020202020204" charset="0"/>
                <a:cs typeface="Google Sans" panose="020B0604020202020204" charset="0"/>
              </a:rPr>
              <a:t>The two models showed a nearly identical performance for the metrics used:</a:t>
            </a:r>
          </a:p>
        </p:txBody>
      </p:sp>
      <p:grpSp>
        <p:nvGrpSpPr>
          <p:cNvPr id="9" name="Group 8">
            <a:extLst>
              <a:ext uri="{FF2B5EF4-FFF2-40B4-BE49-F238E27FC236}">
                <a16:creationId xmlns:a16="http://schemas.microsoft.com/office/drawing/2014/main" id="{09CE67FF-ECA5-856E-1087-6B37DEE7A654}"/>
              </a:ext>
            </a:extLst>
          </p:cNvPr>
          <p:cNvGrpSpPr/>
          <p:nvPr/>
        </p:nvGrpSpPr>
        <p:grpSpPr>
          <a:xfrm>
            <a:off x="4441371" y="4681004"/>
            <a:ext cx="3249385" cy="2707110"/>
            <a:chOff x="4441371" y="5244884"/>
            <a:chExt cx="3249385" cy="2707110"/>
          </a:xfrm>
        </p:grpSpPr>
        <p:pic>
          <p:nvPicPr>
            <p:cNvPr id="1026" name="Picture 2">
              <a:extLst>
                <a:ext uri="{FF2B5EF4-FFF2-40B4-BE49-F238E27FC236}">
                  <a16:creationId xmlns:a16="http://schemas.microsoft.com/office/drawing/2014/main" id="{D20C1057-E122-3E81-19DE-BBBD945AEB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9215" y="5244884"/>
              <a:ext cx="2933699" cy="246088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074F63F-DD53-E9B5-2493-6D6B5F3A2C06}"/>
                </a:ext>
              </a:extLst>
            </p:cNvPr>
            <p:cNvSpPr txBox="1"/>
            <p:nvPr/>
          </p:nvSpPr>
          <p:spPr>
            <a:xfrm>
              <a:off x="4441371" y="7705773"/>
              <a:ext cx="3249385" cy="246221"/>
            </a:xfrm>
            <a:prstGeom prst="rect">
              <a:avLst/>
            </a:prstGeom>
            <a:noFill/>
          </p:spPr>
          <p:txBody>
            <a:bodyPr wrap="square" rtlCol="0">
              <a:spAutoFit/>
            </a:bodyPr>
            <a:lstStyle/>
            <a:p>
              <a:r>
                <a:rPr lang="en-GB" sz="1000" i="1" dirty="0">
                  <a:latin typeface="Google Sans" panose="020B0604020202020204" charset="0"/>
                  <a:ea typeface="Google Sans" panose="020B0604020202020204" charset="0"/>
                  <a:cs typeface="Google Sans" panose="020B0604020202020204" charset="0"/>
                </a:rPr>
                <a:t>Confusion matrix of the XGBoost model on test data.</a:t>
              </a:r>
            </a:p>
          </p:txBody>
        </p:sp>
      </p:grpSp>
      <p:graphicFrame>
        <p:nvGraphicFramePr>
          <p:cNvPr id="11" name="Table 10">
            <a:extLst>
              <a:ext uri="{FF2B5EF4-FFF2-40B4-BE49-F238E27FC236}">
                <a16:creationId xmlns:a16="http://schemas.microsoft.com/office/drawing/2014/main" id="{21D78DD8-0518-1145-5086-B140BB63122C}"/>
              </a:ext>
            </a:extLst>
          </p:cNvPr>
          <p:cNvGraphicFramePr>
            <a:graphicFrameLocks noGrp="1"/>
          </p:cNvGraphicFramePr>
          <p:nvPr>
            <p:extLst>
              <p:ext uri="{D42A27DB-BD31-4B8C-83A1-F6EECF244321}">
                <p14:modId xmlns:p14="http://schemas.microsoft.com/office/powerpoint/2010/main" val="4275807656"/>
              </p:ext>
            </p:extLst>
          </p:nvPr>
        </p:nvGraphicFramePr>
        <p:xfrm>
          <a:off x="239486" y="5019016"/>
          <a:ext cx="4294416" cy="822960"/>
        </p:xfrm>
        <a:graphic>
          <a:graphicData uri="http://schemas.openxmlformats.org/drawingml/2006/table">
            <a:tbl>
              <a:tblPr/>
              <a:tblGrid>
                <a:gridCol w="715736">
                  <a:extLst>
                    <a:ext uri="{9D8B030D-6E8A-4147-A177-3AD203B41FA5}">
                      <a16:colId xmlns:a16="http://schemas.microsoft.com/office/drawing/2014/main" val="2260797599"/>
                    </a:ext>
                  </a:extLst>
                </a:gridCol>
                <a:gridCol w="715736">
                  <a:extLst>
                    <a:ext uri="{9D8B030D-6E8A-4147-A177-3AD203B41FA5}">
                      <a16:colId xmlns:a16="http://schemas.microsoft.com/office/drawing/2014/main" val="843793918"/>
                    </a:ext>
                  </a:extLst>
                </a:gridCol>
                <a:gridCol w="715736">
                  <a:extLst>
                    <a:ext uri="{9D8B030D-6E8A-4147-A177-3AD203B41FA5}">
                      <a16:colId xmlns:a16="http://schemas.microsoft.com/office/drawing/2014/main" val="1490487903"/>
                    </a:ext>
                  </a:extLst>
                </a:gridCol>
                <a:gridCol w="715736">
                  <a:extLst>
                    <a:ext uri="{9D8B030D-6E8A-4147-A177-3AD203B41FA5}">
                      <a16:colId xmlns:a16="http://schemas.microsoft.com/office/drawing/2014/main" val="2247119842"/>
                    </a:ext>
                  </a:extLst>
                </a:gridCol>
                <a:gridCol w="715736">
                  <a:extLst>
                    <a:ext uri="{9D8B030D-6E8A-4147-A177-3AD203B41FA5}">
                      <a16:colId xmlns:a16="http://schemas.microsoft.com/office/drawing/2014/main" val="1644425019"/>
                    </a:ext>
                  </a:extLst>
                </a:gridCol>
                <a:gridCol w="715736">
                  <a:extLst>
                    <a:ext uri="{9D8B030D-6E8A-4147-A177-3AD203B41FA5}">
                      <a16:colId xmlns:a16="http://schemas.microsoft.com/office/drawing/2014/main" val="3544994314"/>
                    </a:ext>
                  </a:extLst>
                </a:gridCol>
              </a:tblGrid>
              <a:tr h="0">
                <a:tc>
                  <a:txBody>
                    <a:bodyPr/>
                    <a:lstStyle/>
                    <a:p>
                      <a:pPr>
                        <a:buNone/>
                      </a:pPr>
                      <a:r>
                        <a:rPr lang="en-GB" sz="900" b="1" dirty="0">
                          <a:latin typeface="Google Sans" panose="020B0604020202020204" charset="0"/>
                          <a:ea typeface="Google Sans" panose="020B0604020202020204" charset="0"/>
                          <a:cs typeface="Google Sans" panose="020B0604020202020204" charset="0"/>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sz="900" b="1" dirty="0">
                          <a:latin typeface="Google Sans" panose="020B0604020202020204" charset="0"/>
                          <a:ea typeface="Google Sans" panose="020B0604020202020204" charset="0"/>
                          <a:cs typeface="Google Sans" panose="020B0604020202020204" charset="0"/>
                        </a:rPr>
                        <a:t>Precision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sz="900" b="1" dirty="0">
                          <a:latin typeface="Google Sans" panose="020B0604020202020204" charset="0"/>
                          <a:ea typeface="Google Sans" panose="020B0604020202020204" charset="0"/>
                          <a:cs typeface="Google Sans" panose="020B0604020202020204" charset="0"/>
                        </a:rPr>
                        <a:t>Recall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sz="900" b="1" dirty="0">
                          <a:latin typeface="Google Sans" panose="020B0604020202020204" charset="0"/>
                          <a:ea typeface="Google Sans" panose="020B0604020202020204" charset="0"/>
                          <a:cs typeface="Google Sans" panose="020B0604020202020204" charset="0"/>
                        </a:rPr>
                        <a:t>F1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sz="900" b="1" dirty="0">
                          <a:latin typeface="Google Sans" panose="020B0604020202020204" charset="0"/>
                          <a:ea typeface="Google Sans" panose="020B0604020202020204" charset="0"/>
                          <a:cs typeface="Google Sans" panose="020B0604020202020204" charset="0"/>
                        </a:rPr>
                        <a:t>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sz="900" b="1" dirty="0">
                          <a:latin typeface="Google Sans" panose="020B0604020202020204" charset="0"/>
                          <a:ea typeface="Google Sans" panose="020B0604020202020204" charset="0"/>
                          <a:cs typeface="Google Sans" panose="020B0604020202020204" charset="0"/>
                        </a:rPr>
                        <a:t>ROC AUC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7822420"/>
                  </a:ext>
                </a:extLst>
              </a:tr>
              <a:tr h="0">
                <a:tc>
                  <a:txBody>
                    <a:bodyPr/>
                    <a:lstStyle/>
                    <a:p>
                      <a:pPr>
                        <a:buNone/>
                      </a:pPr>
                      <a:r>
                        <a:rPr lang="en-GB" sz="900" dirty="0">
                          <a:latin typeface="Google Sans" panose="020B0604020202020204" charset="0"/>
                          <a:ea typeface="Google Sans" panose="020B0604020202020204" charset="0"/>
                          <a:cs typeface="Google Sans" panose="020B0604020202020204"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CH" sz="900" dirty="0">
                          <a:latin typeface="Google Sans" panose="020B0604020202020204" charset="0"/>
                          <a:ea typeface="Google Sans" panose="020B0604020202020204" charset="0"/>
                          <a:cs typeface="Google Sans" panose="020B0604020202020204" charset="0"/>
                        </a:rPr>
                        <a:t>0.682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CH" sz="900" dirty="0">
                          <a:latin typeface="Google Sans" panose="020B0604020202020204" charset="0"/>
                          <a:ea typeface="Google Sans" panose="020B0604020202020204" charset="0"/>
                          <a:cs typeface="Google Sans" panose="020B0604020202020204" charset="0"/>
                        </a:rPr>
                        <a:t>0.816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CH" sz="900" dirty="0">
                          <a:latin typeface="Google Sans" panose="020B0604020202020204" charset="0"/>
                          <a:ea typeface="Google Sans" panose="020B0604020202020204" charset="0"/>
                          <a:cs typeface="Google Sans" panose="020B0604020202020204" charset="0"/>
                        </a:rPr>
                        <a:t>0.743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CH" sz="900" dirty="0">
                          <a:latin typeface="Google Sans" panose="020B0604020202020204" charset="0"/>
                          <a:ea typeface="Google Sans" panose="020B0604020202020204" charset="0"/>
                          <a:cs typeface="Google Sans" panose="020B0604020202020204" charset="0"/>
                        </a:rPr>
                        <a:t>0.703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CH" sz="900" dirty="0">
                          <a:latin typeface="Google Sans" panose="020B0604020202020204" charset="0"/>
                          <a:ea typeface="Google Sans" panose="020B0604020202020204" charset="0"/>
                          <a:cs typeface="Google Sans" panose="020B0604020202020204" charset="0"/>
                        </a:rPr>
                        <a:t>0.69</a:t>
                      </a:r>
                      <a:r>
                        <a:rPr lang="en-GB" sz="900" dirty="0">
                          <a:latin typeface="Google Sans" panose="020B0604020202020204" charset="0"/>
                          <a:ea typeface="Google Sans" panose="020B0604020202020204" charset="0"/>
                          <a:cs typeface="Google Sans" panose="020B0604020202020204" charset="0"/>
                        </a:rPr>
                        <a:t>7</a:t>
                      </a:r>
                      <a:endParaRPr lang="en-CH" sz="900" dirty="0">
                        <a:latin typeface="Google Sans" panose="020B0604020202020204" charset="0"/>
                        <a:ea typeface="Google Sans" panose="020B0604020202020204" charset="0"/>
                        <a:cs typeface="Google Sans"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6923438"/>
                  </a:ext>
                </a:extLst>
              </a:tr>
              <a:tr h="0">
                <a:tc>
                  <a:txBody>
                    <a:bodyPr/>
                    <a:lstStyle/>
                    <a:p>
                      <a:pPr>
                        <a:buNone/>
                      </a:pPr>
                      <a:r>
                        <a:rPr lang="en-GB" sz="900" dirty="0">
                          <a:latin typeface="Google Sans" panose="020B0604020202020204" charset="0"/>
                          <a:ea typeface="Google Sans" panose="020B0604020202020204" charset="0"/>
                          <a:cs typeface="Google Sans" panose="020B0604020202020204" charset="0"/>
                        </a:rPr>
                        <a:t>XGBoost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CH" sz="900" dirty="0">
                          <a:latin typeface="Google Sans" panose="020B0604020202020204" charset="0"/>
                          <a:ea typeface="Google Sans" panose="020B0604020202020204" charset="0"/>
                          <a:cs typeface="Google Sans" panose="020B0604020202020204" charset="0"/>
                        </a:rPr>
                        <a:t>0.681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CH" sz="900" dirty="0">
                          <a:latin typeface="Google Sans" panose="020B0604020202020204" charset="0"/>
                          <a:ea typeface="Google Sans" panose="020B0604020202020204" charset="0"/>
                          <a:cs typeface="Google Sans" panose="020B0604020202020204" charset="0"/>
                        </a:rPr>
                        <a:t>0.818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CH" sz="900" dirty="0">
                          <a:latin typeface="Google Sans" panose="020B0604020202020204" charset="0"/>
                          <a:ea typeface="Google Sans" panose="020B0604020202020204" charset="0"/>
                          <a:cs typeface="Google Sans" panose="020B0604020202020204" charset="0"/>
                        </a:rPr>
                        <a:t>0.74</a:t>
                      </a:r>
                      <a:r>
                        <a:rPr lang="en-GB" sz="900" dirty="0">
                          <a:latin typeface="Google Sans" panose="020B0604020202020204" charset="0"/>
                          <a:ea typeface="Google Sans" panose="020B0604020202020204" charset="0"/>
                          <a:cs typeface="Google Sans" panose="020B0604020202020204" charset="0"/>
                        </a:rPr>
                        <a:t>4</a:t>
                      </a:r>
                      <a:endParaRPr lang="en-CH" sz="900" dirty="0">
                        <a:latin typeface="Google Sans" panose="020B0604020202020204" charset="0"/>
                        <a:ea typeface="Google Sans" panose="020B0604020202020204" charset="0"/>
                        <a:cs typeface="Google Sans"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CH" sz="900" dirty="0">
                          <a:latin typeface="Google Sans" panose="020B0604020202020204" charset="0"/>
                          <a:ea typeface="Google Sans" panose="020B0604020202020204" charset="0"/>
                          <a:cs typeface="Google Sans" panose="020B0604020202020204" charset="0"/>
                        </a:rPr>
                        <a:t>0.70</a:t>
                      </a:r>
                      <a:r>
                        <a:rPr lang="en-GB" sz="900" dirty="0">
                          <a:latin typeface="Google Sans" panose="020B0604020202020204" charset="0"/>
                          <a:ea typeface="Google Sans" panose="020B0604020202020204" charset="0"/>
                          <a:cs typeface="Google Sans" panose="020B0604020202020204" charset="0"/>
                        </a:rPr>
                        <a:t>3</a:t>
                      </a:r>
                      <a:endParaRPr lang="en-CH" sz="900" dirty="0">
                        <a:latin typeface="Google Sans" panose="020B0604020202020204" charset="0"/>
                        <a:ea typeface="Google Sans" panose="020B0604020202020204" charset="0"/>
                        <a:cs typeface="Google Sans"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CH" sz="900" dirty="0">
                          <a:latin typeface="Google Sans" panose="020B0604020202020204" charset="0"/>
                          <a:ea typeface="Google Sans" panose="020B0604020202020204" charset="0"/>
                          <a:cs typeface="Google Sans" panose="020B0604020202020204" charset="0"/>
                        </a:rPr>
                        <a:t>0.696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1341466"/>
                  </a:ext>
                </a:extLst>
              </a:tr>
            </a:tbl>
          </a:graphicData>
        </a:graphic>
      </p:graphicFrame>
      <p:sp>
        <p:nvSpPr>
          <p:cNvPr id="12" name="TextBox 11">
            <a:extLst>
              <a:ext uri="{FF2B5EF4-FFF2-40B4-BE49-F238E27FC236}">
                <a16:creationId xmlns:a16="http://schemas.microsoft.com/office/drawing/2014/main" id="{46F3A11F-439B-A6C4-2B04-8103EB140067}"/>
              </a:ext>
            </a:extLst>
          </p:cNvPr>
          <p:cNvSpPr txBox="1"/>
          <p:nvPr/>
        </p:nvSpPr>
        <p:spPr>
          <a:xfrm>
            <a:off x="188700" y="5911448"/>
            <a:ext cx="4410514" cy="1461939"/>
          </a:xfrm>
          <a:prstGeom prst="rect">
            <a:avLst/>
          </a:prstGeom>
          <a:noFill/>
        </p:spPr>
        <p:txBody>
          <a:bodyPr wrap="square" rtlCol="0">
            <a:spAutoFit/>
          </a:bodyPr>
          <a:lstStyle/>
          <a:p>
            <a:pPr>
              <a:spcAft>
                <a:spcPts val="600"/>
              </a:spcAft>
            </a:pPr>
            <a:r>
              <a:rPr lang="en-GB" sz="1200" dirty="0">
                <a:latin typeface="Google Sans" panose="020B0604020202020204" charset="0"/>
                <a:ea typeface="Google Sans" panose="020B0604020202020204" charset="0"/>
                <a:cs typeface="Google Sans" panose="020B0604020202020204" charset="0"/>
              </a:rPr>
              <a:t>Based on the </a:t>
            </a:r>
            <a:r>
              <a:rPr lang="en-GB" sz="1200" b="1" dirty="0">
                <a:latin typeface="Google Sans" panose="020B0604020202020204" charset="0"/>
                <a:ea typeface="Google Sans" panose="020B0604020202020204" charset="0"/>
                <a:cs typeface="Google Sans" panose="020B0604020202020204" charset="0"/>
              </a:rPr>
              <a:t>F1 score of 0.74</a:t>
            </a:r>
            <a:r>
              <a:rPr lang="en-GB" sz="1200" dirty="0">
                <a:latin typeface="Google Sans" panose="020B0604020202020204" charset="0"/>
                <a:ea typeface="Google Sans" panose="020B0604020202020204" charset="0"/>
                <a:cs typeface="Google Sans" panose="020B0604020202020204" charset="0"/>
              </a:rPr>
              <a:t>, both models performed reasonably well.</a:t>
            </a:r>
          </a:p>
          <a:p>
            <a:pPr>
              <a:spcAft>
                <a:spcPts val="600"/>
              </a:spcAft>
            </a:pPr>
            <a:r>
              <a:rPr lang="en-GB" sz="1200" dirty="0">
                <a:latin typeface="Google Sans" panose="020B0604020202020204" charset="0"/>
                <a:ea typeface="Google Sans" panose="020B0604020202020204" charset="0"/>
                <a:cs typeface="Google Sans" panose="020B0604020202020204" charset="0"/>
              </a:rPr>
              <a:t>However, the performance could be potentially improved with further parameter tuning. More importantly, it would be beneficial to collect data regarding </a:t>
            </a:r>
            <a:r>
              <a:rPr lang="en-GB" sz="1200" b="1" dirty="0">
                <a:latin typeface="Google Sans" panose="020B0604020202020204" charset="0"/>
                <a:ea typeface="Google Sans" panose="020B0604020202020204" charset="0"/>
                <a:cs typeface="Google Sans" panose="020B0604020202020204" charset="0"/>
              </a:rPr>
              <a:t>customer tipping history</a:t>
            </a:r>
            <a:r>
              <a:rPr lang="en-GB" sz="1200" dirty="0">
                <a:latin typeface="Google Sans" panose="020B0604020202020204" charset="0"/>
                <a:ea typeface="Google Sans" panose="020B0604020202020204" charset="0"/>
                <a:cs typeface="Google Sans" panose="020B0604020202020204" charset="0"/>
              </a:rPr>
              <a:t>, as this is likely a very good predictor of whether a customer will give a generous tip or not.</a:t>
            </a:r>
          </a:p>
        </p:txBody>
      </p:sp>
      <p:sp>
        <p:nvSpPr>
          <p:cNvPr id="13" name="TextBox 12">
            <a:extLst>
              <a:ext uri="{FF2B5EF4-FFF2-40B4-BE49-F238E27FC236}">
                <a16:creationId xmlns:a16="http://schemas.microsoft.com/office/drawing/2014/main" id="{1EA32675-56FB-A41F-4F07-B7476483DF93}"/>
              </a:ext>
            </a:extLst>
          </p:cNvPr>
          <p:cNvSpPr txBox="1"/>
          <p:nvPr/>
        </p:nvSpPr>
        <p:spPr>
          <a:xfrm>
            <a:off x="188698" y="7442859"/>
            <a:ext cx="7344213" cy="830997"/>
          </a:xfrm>
          <a:prstGeom prst="rect">
            <a:avLst/>
          </a:prstGeom>
          <a:noFill/>
        </p:spPr>
        <p:txBody>
          <a:bodyPr wrap="square" rtlCol="0">
            <a:spAutoFit/>
          </a:bodyPr>
          <a:lstStyle/>
          <a:p>
            <a:pPr>
              <a:spcAft>
                <a:spcPts val="600"/>
              </a:spcAft>
            </a:pPr>
            <a:r>
              <a:rPr lang="en-GB" sz="1200" dirty="0">
                <a:latin typeface="Google Sans" panose="020B0604020202020204" charset="0"/>
                <a:ea typeface="Google Sans" panose="020B0604020202020204" charset="0"/>
                <a:cs typeface="Google Sans" panose="020B0604020202020204" charset="0"/>
              </a:rPr>
              <a:t>The XGBoost model was chosen as the model to retain. The analysis of feature importance showed that only three features are used by the model: DOLocationID_186, VendorID_2, and predicted_fare. It is unclear how these features provide the best predictive power, particularly the VendorID, which is one limitation of this model.</a:t>
            </a:r>
          </a:p>
        </p:txBody>
      </p:sp>
      <p:sp>
        <p:nvSpPr>
          <p:cNvPr id="14" name="TextBox 13">
            <a:extLst>
              <a:ext uri="{FF2B5EF4-FFF2-40B4-BE49-F238E27FC236}">
                <a16:creationId xmlns:a16="http://schemas.microsoft.com/office/drawing/2014/main" id="{BFFB524C-EAD1-B05C-0A27-609CBE3C0BE0}"/>
              </a:ext>
            </a:extLst>
          </p:cNvPr>
          <p:cNvSpPr txBox="1"/>
          <p:nvPr/>
        </p:nvSpPr>
        <p:spPr>
          <a:xfrm>
            <a:off x="188697" y="8909644"/>
            <a:ext cx="7344213" cy="907941"/>
          </a:xfrm>
          <a:prstGeom prst="rect">
            <a:avLst/>
          </a:prstGeom>
          <a:noFill/>
        </p:spPr>
        <p:txBody>
          <a:bodyPr wrap="square" rtlCol="0">
            <a:spAutoFit/>
          </a:bodyPr>
          <a:lstStyle/>
          <a:p>
            <a:pPr>
              <a:spcAft>
                <a:spcPts val="600"/>
              </a:spcAft>
            </a:pPr>
            <a:r>
              <a:rPr lang="en-GB" sz="1200" dirty="0">
                <a:latin typeface="Google Sans" panose="020B0604020202020204" charset="0"/>
                <a:ea typeface="Google Sans" panose="020B0604020202020204" charset="0"/>
                <a:cs typeface="Google Sans" panose="020B0604020202020204" charset="0"/>
              </a:rPr>
              <a:t>The XGBoost model can be used to setup a test with a small group of taxi drivers, to determine whether the model indeed helps them get a higher number of generous tips.</a:t>
            </a:r>
          </a:p>
          <a:p>
            <a:pPr>
              <a:spcAft>
                <a:spcPts val="600"/>
              </a:spcAft>
            </a:pPr>
            <a:r>
              <a:rPr lang="en-GB" sz="1200" dirty="0">
                <a:latin typeface="Google Sans" panose="020B0604020202020204" charset="0"/>
                <a:ea typeface="Google Sans" panose="020B0604020202020204" charset="0"/>
                <a:cs typeface="Google Sans" panose="020B0604020202020204" charset="0"/>
              </a:rPr>
              <a:t>Data regarding customer tipping history should be collected and used to improve the model performance.</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389</Words>
  <Application>Microsoft Office PowerPoint</Application>
  <PresentationFormat>Custom</PresentationFormat>
  <Paragraphs>30</Paragraphs>
  <Slides>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vt:i4>
      </vt:variant>
    </vt:vector>
  </HeadingPairs>
  <TitlesOfParts>
    <vt:vector size="11" baseType="lpstr">
      <vt:lpstr>Roboto</vt:lpstr>
      <vt:lpstr>Arial</vt:lpstr>
      <vt:lpstr>Work Sans</vt:lpstr>
      <vt:lpstr>Google Sans</vt:lpstr>
      <vt:lpstr>PT Sans Narrow</vt:lpstr>
      <vt:lpstr>Calibri</vt:lpstr>
      <vt:lpstr>Google Sans SemiBold</vt:lpstr>
      <vt:lpstr>Lato</vt:lpstr>
      <vt:lpstr>Simple Light</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David FitzGerald</cp:lastModifiedBy>
  <cp:revision>3</cp:revision>
  <dcterms:modified xsi:type="dcterms:W3CDTF">2026-04-27T11:30:49Z</dcterms:modified>
</cp:coreProperties>
</file>