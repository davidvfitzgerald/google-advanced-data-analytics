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 id="2147483662" r:id="rId2"/>
  </p:sldMasterIdLst>
  <p:notesMasterIdLst>
    <p:notesMasterId r:id="rId4"/>
  </p:notesMasterIdLst>
  <p:sldIdLst>
    <p:sldId id="261" r:id="rId3"/>
  </p:sldIdLst>
  <p:sldSz cx="7772400" cy="10058400"/>
  <p:notesSz cx="6858000" cy="9144000"/>
  <p:embeddedFontLst>
    <p:embeddedFont>
      <p:font typeface="Google Sans" panose="020B0604020202020204" charset="0"/>
      <p:regular r:id="rId5"/>
      <p:bold r:id="rId6"/>
      <p:italic r:id="rId7"/>
      <p:boldItalic r:id="rId8"/>
    </p:embeddedFont>
    <p:embeddedFont>
      <p:font typeface="Google Sans SemiBold" panose="020B0604020202020204" charset="0"/>
      <p:regular r:id="rId9"/>
      <p:bold r:id="rId10"/>
      <p:italic r:id="rId11"/>
      <p:boldItalic r:id="rId12"/>
    </p:embeddedFont>
    <p:embeddedFont>
      <p:font typeface="Lato" panose="020F0502020204030203" pitchFamily="34" charset="0"/>
      <p:regular r:id="rId13"/>
      <p:bold r:id="rId14"/>
      <p:italic r:id="rId15"/>
      <p:boldItalic r:id="rId16"/>
    </p:embeddedFont>
    <p:embeddedFont>
      <p:font typeface="PT Sans Narrow" panose="020B0506020203020204" pitchFamily="34" charset="0"/>
      <p:regular r:id="rId17"/>
      <p:bold r:id="rId18"/>
    </p:embeddedFont>
    <p:embeddedFont>
      <p:font typeface="Roboto" panose="02000000000000000000" pitchFamily="2" charset="0"/>
      <p:regular r:id="rId19"/>
      <p:bold r:id="rId20"/>
      <p:italic r:id="rId21"/>
      <p:boldItalic r:id="rId22"/>
    </p:embeddedFont>
    <p:embeddedFont>
      <p:font typeface="Work Sans"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264" y="38"/>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26" Type="http://schemas.openxmlformats.org/officeDocument/2006/relationships/font" Target="fonts/font22.fntdata"/><Relationship Id="rId3" Type="http://schemas.openxmlformats.org/officeDocument/2006/relationships/slide" Target="slides/slide1.xml"/><Relationship Id="rId21" Type="http://schemas.openxmlformats.org/officeDocument/2006/relationships/font" Target="fonts/font17.fntdata"/><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openxmlformats.org/officeDocument/2006/relationships/font" Target="fonts/font21.fntdata"/><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font" Target="fonts/font1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font" Target="fonts/font20.fntdata"/><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font" Target="fonts/font19.fntdata"/><Relationship Id="rId28" Type="http://schemas.openxmlformats.org/officeDocument/2006/relationships/viewProps" Target="viewProps.xml"/><Relationship Id="rId10" Type="http://schemas.openxmlformats.org/officeDocument/2006/relationships/font" Target="fonts/font6.fntdata"/><Relationship Id="rId19" Type="http://schemas.openxmlformats.org/officeDocument/2006/relationships/font" Target="fonts/font15.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font" Target="fonts/font1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CH"/>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e3a6309cc6_3_33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H"/>
          </a:p>
        </p:txBody>
      </p:sp>
      <p:sp>
        <p:nvSpPr>
          <p:cNvPr id="457" name="Google Shape;457;g1e3a6309cc6_3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CH"/>
          </a:p>
        </p:txBody>
      </p:sp>
      <p:sp>
        <p:nvSpPr>
          <p:cNvPr id="64" name="Google Shape;64;p2"/>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5"/>
        <p:cNvGrpSpPr/>
        <p:nvPr/>
      </p:nvGrpSpPr>
      <p:grpSpPr>
        <a:xfrm>
          <a:off x="0" y="0"/>
          <a:ext cx="0" cy="0"/>
          <a:chOff x="0" y="0"/>
          <a:chExt cx="0" cy="0"/>
        </a:xfrm>
      </p:grpSpPr>
      <p:cxnSp>
        <p:nvCxnSpPr>
          <p:cNvPr id="66" name="Google Shape;66;p3"/>
          <p:cNvCxnSpPr/>
          <p:nvPr/>
        </p:nvCxnSpPr>
        <p:spPr>
          <a:xfrm>
            <a:off x="3049395" y="9019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67" name="Google Shape;67;p3"/>
          <p:cNvCxnSpPr>
            <a:stCxn id="68" idx="0"/>
          </p:cNvCxnSpPr>
          <p:nvPr/>
        </p:nvCxnSpPr>
        <p:spPr>
          <a:xfrm flipH="1">
            <a:off x="172045" y="903711"/>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69" name="Google Shape;69;p3"/>
          <p:cNvGrpSpPr/>
          <p:nvPr/>
        </p:nvGrpSpPr>
        <p:grpSpPr>
          <a:xfrm>
            <a:off x="190345" y="900758"/>
            <a:ext cx="7581747" cy="5906"/>
            <a:chOff x="1890075" y="5241175"/>
            <a:chExt cx="4240556" cy="257700"/>
          </a:xfrm>
        </p:grpSpPr>
        <p:sp>
          <p:nvSpPr>
            <p:cNvPr id="68" name="Google Shape;68;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9" name="Google Shape;79;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CH"/>
          </a:p>
        </p:txBody>
      </p:sp>
      <p:sp>
        <p:nvSpPr>
          <p:cNvPr id="80" name="Google Shape;80;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81" name="Google Shape;81;p3"/>
          <p:cNvSpPr/>
          <p:nvPr/>
        </p:nvSpPr>
        <p:spPr>
          <a:xfrm>
            <a:off x="190350" y="7617450"/>
            <a:ext cx="7581600" cy="22641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 name="Google Shape;82;p3"/>
          <p:cNvCxnSpPr/>
          <p:nvPr/>
        </p:nvCxnSpPr>
        <p:spPr>
          <a:xfrm flipH="1">
            <a:off x="3028995" y="901911"/>
            <a:ext cx="20400" cy="8834400"/>
          </a:xfrm>
          <a:prstGeom prst="straightConnector1">
            <a:avLst/>
          </a:prstGeom>
          <a:noFill/>
          <a:ln w="9525" cap="flat" cmpd="sng">
            <a:solidFill>
              <a:srgbClr val="CCCCCC"/>
            </a:solidFill>
            <a:prstDash val="solid"/>
            <a:round/>
            <a:headEnd type="none" w="med" len="med"/>
            <a:tailEnd type="none" w="med" len="med"/>
          </a:ln>
        </p:spPr>
      </p:cxnSp>
      <p:cxnSp>
        <p:nvCxnSpPr>
          <p:cNvPr id="83" name="Google Shape;83;p3"/>
          <p:cNvCxnSpPr>
            <a:stCxn id="84" idx="0"/>
          </p:cNvCxnSpPr>
          <p:nvPr/>
        </p:nvCxnSpPr>
        <p:spPr>
          <a:xfrm flipH="1">
            <a:off x="172020" y="903608"/>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85" name="Google Shape;85;p3"/>
          <p:cNvGrpSpPr/>
          <p:nvPr/>
        </p:nvGrpSpPr>
        <p:grpSpPr>
          <a:xfrm>
            <a:off x="190320" y="900657"/>
            <a:ext cx="7581691" cy="5901"/>
            <a:chOff x="1890075" y="5241175"/>
            <a:chExt cx="4240556" cy="257700"/>
          </a:xfrm>
        </p:grpSpPr>
        <p:sp>
          <p:nvSpPr>
            <p:cNvPr id="84" name="Google Shape;8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7" name="Google Shape;87;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8" name="Google Shape;88;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9" name="Google Shape;89;p3"/>
          <p:cNvGrpSpPr/>
          <p:nvPr/>
        </p:nvGrpSpPr>
        <p:grpSpPr>
          <a:xfrm>
            <a:off x="190320" y="931759"/>
            <a:ext cx="7581691" cy="5901"/>
            <a:chOff x="1890075" y="5241175"/>
            <a:chExt cx="4240556" cy="257700"/>
          </a:xfrm>
        </p:grpSpPr>
        <p:sp>
          <p:nvSpPr>
            <p:cNvPr id="90" name="Google Shape;9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1" name="Google Shape;9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2" name="Google Shape;9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3" name="Google Shape;9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94" name="Google Shape;94;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95" name="Google Shape;95;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6" name="Google Shape;96;p3"/>
          <p:cNvGrpSpPr/>
          <p:nvPr/>
        </p:nvGrpSpPr>
        <p:grpSpPr>
          <a:xfrm>
            <a:off x="172024" y="1040825"/>
            <a:ext cx="137818" cy="187200"/>
            <a:chOff x="507100" y="1997600"/>
            <a:chExt cx="158375" cy="187200"/>
          </a:xfrm>
        </p:grpSpPr>
        <p:sp>
          <p:nvSpPr>
            <p:cNvPr id="97" name="Google Shape;97;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07100" y="2017025"/>
              <a:ext cx="135900" cy="146700"/>
            </a:xfrm>
            <a:prstGeom prst="chevron">
              <a:avLst>
                <a:gd name="adj" fmla="val 50000"/>
              </a:avLst>
            </a:prstGeom>
            <a:solidFill>
              <a:srgbClr val="0000F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100" name="Google Shape;100;p3"/>
          <p:cNvGrpSpPr/>
          <p:nvPr/>
        </p:nvGrpSpPr>
        <p:grpSpPr>
          <a:xfrm>
            <a:off x="190349" y="2907725"/>
            <a:ext cx="137818" cy="187200"/>
            <a:chOff x="507100" y="1540400"/>
            <a:chExt cx="158375" cy="187200"/>
          </a:xfrm>
        </p:grpSpPr>
        <p:sp>
          <p:nvSpPr>
            <p:cNvPr id="101" name="Google Shape;101;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07100" y="1559825"/>
              <a:ext cx="135900" cy="146700"/>
            </a:xfrm>
            <a:prstGeom prst="chevron">
              <a:avLst>
                <a:gd name="adj" fmla="val 50000"/>
              </a:avLst>
            </a:prstGeom>
            <a:solidFill>
              <a:srgbClr val="FF00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4" name="Google Shape;104;p3"/>
          <p:cNvGrpSpPr/>
          <p:nvPr/>
        </p:nvGrpSpPr>
        <p:grpSpPr>
          <a:xfrm>
            <a:off x="172024" y="5506200"/>
            <a:ext cx="137818" cy="187200"/>
            <a:chOff x="507100" y="1997600"/>
            <a:chExt cx="158375" cy="187200"/>
          </a:xfrm>
        </p:grpSpPr>
        <p:sp>
          <p:nvSpPr>
            <p:cNvPr id="105" name="Google Shape;105;p3"/>
            <p:cNvSpPr/>
            <p:nvPr/>
          </p:nvSpPr>
          <p:spPr>
            <a:xfrm>
              <a:off x="529575" y="1997600"/>
              <a:ext cx="135900" cy="187200"/>
            </a:xfrm>
            <a:prstGeom prst="chevron">
              <a:avLst>
                <a:gd name="adj" fmla="val 50000"/>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507100" y="2017025"/>
              <a:ext cx="135900" cy="146700"/>
            </a:xfrm>
            <a:prstGeom prst="chevron">
              <a:avLst>
                <a:gd name="adj" fmla="val 50000"/>
              </a:avLst>
            </a:prstGeom>
            <a:solidFill>
              <a:srgbClr val="FFFF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8" name="Google Shape;108;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9" name="Google Shape;109;p3"/>
          <p:cNvGrpSpPr/>
          <p:nvPr/>
        </p:nvGrpSpPr>
        <p:grpSpPr>
          <a:xfrm>
            <a:off x="172024" y="7607808"/>
            <a:ext cx="137818" cy="187200"/>
            <a:chOff x="507100" y="1997600"/>
            <a:chExt cx="158375" cy="187200"/>
          </a:xfrm>
        </p:grpSpPr>
        <p:sp>
          <p:nvSpPr>
            <p:cNvPr id="110" name="Google Shape;110;p3"/>
            <p:cNvSpPr/>
            <p:nvPr/>
          </p:nvSpPr>
          <p:spPr>
            <a:xfrm>
              <a:off x="529575" y="1997600"/>
              <a:ext cx="135900" cy="187200"/>
            </a:xfrm>
            <a:prstGeom prst="chevron">
              <a:avLst>
                <a:gd name="adj" fmla="val 50000"/>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507100" y="2017025"/>
              <a:ext cx="135900" cy="146700"/>
            </a:xfrm>
            <a:prstGeom prst="chevron">
              <a:avLst>
                <a:gd name="adj" fmla="val 50000"/>
              </a:avLst>
            </a:prstGeom>
            <a:solidFill>
              <a:srgbClr val="38761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CH"/>
          </a:p>
        </p:txBody>
      </p:sp>
      <p:sp>
        <p:nvSpPr>
          <p:cNvPr id="113" name="Google Shape;113;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14" name="Google Shape;114;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15" name="Google Shape;115;p3"/>
          <p:cNvSpPr txBox="1"/>
          <p:nvPr/>
        </p:nvSpPr>
        <p:spPr>
          <a:xfrm>
            <a:off x="3483688" y="403875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
        <p:nvSpPr>
          <p:cNvPr id="116" name="Google Shape;116;p3"/>
          <p:cNvSpPr txBox="1"/>
          <p:nvPr/>
        </p:nvSpPr>
        <p:spPr>
          <a:xfrm>
            <a:off x="3986375" y="71865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17"/>
        <p:cNvGrpSpPr/>
        <p:nvPr/>
      </p:nvGrpSpPr>
      <p:grpSpPr>
        <a:xfrm>
          <a:off x="0" y="0"/>
          <a:ext cx="0" cy="0"/>
          <a:chOff x="0" y="0"/>
          <a:chExt cx="0" cy="0"/>
        </a:xfrm>
      </p:grpSpPr>
      <p:cxnSp>
        <p:nvCxnSpPr>
          <p:cNvPr id="118" name="Google Shape;118;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9" name="Google Shape;119;p4"/>
          <p:cNvGrpSpPr/>
          <p:nvPr/>
        </p:nvGrpSpPr>
        <p:grpSpPr>
          <a:xfrm>
            <a:off x="404725" y="1300475"/>
            <a:ext cx="6908400" cy="72025"/>
            <a:chOff x="404725" y="1681475"/>
            <a:chExt cx="6908400" cy="72025"/>
          </a:xfrm>
        </p:grpSpPr>
        <p:cxnSp>
          <p:nvCxnSpPr>
            <p:cNvPr id="120" name="Google Shape;120;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21" name="Google Shape;121;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22" name="Google Shape;122;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23" name="Google Shape;123;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24" name="Google Shape;124;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25" name="Google Shape;125;p4"/>
          <p:cNvGrpSpPr/>
          <p:nvPr/>
        </p:nvGrpSpPr>
        <p:grpSpPr>
          <a:xfrm>
            <a:off x="417975" y="1504250"/>
            <a:ext cx="2357775" cy="410125"/>
            <a:chOff x="417975" y="1885250"/>
            <a:chExt cx="2357775" cy="410125"/>
          </a:xfrm>
        </p:grpSpPr>
        <p:sp>
          <p:nvSpPr>
            <p:cNvPr id="126" name="Google Shape;126;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417975" y="3276600"/>
            <a:ext cx="2357775" cy="410125"/>
            <a:chOff x="265575" y="3352800"/>
            <a:chExt cx="2357775" cy="410125"/>
          </a:xfrm>
        </p:grpSpPr>
        <p:sp>
          <p:nvSpPr>
            <p:cNvPr id="131" name="Google Shape;131;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4"/>
          <p:cNvGrpSpPr/>
          <p:nvPr/>
        </p:nvGrpSpPr>
        <p:grpSpPr>
          <a:xfrm>
            <a:off x="3872044" y="3276600"/>
            <a:ext cx="2747987" cy="410125"/>
            <a:chOff x="3567313" y="3200400"/>
            <a:chExt cx="2357775" cy="410125"/>
          </a:xfrm>
        </p:grpSpPr>
        <p:sp>
          <p:nvSpPr>
            <p:cNvPr id="136" name="Google Shape;136;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4"/>
          <p:cNvGrpSpPr/>
          <p:nvPr/>
        </p:nvGrpSpPr>
        <p:grpSpPr>
          <a:xfrm>
            <a:off x="417963" y="6597750"/>
            <a:ext cx="2357775" cy="410125"/>
            <a:chOff x="-39237" y="6140550"/>
            <a:chExt cx="2357775" cy="410125"/>
          </a:xfrm>
        </p:grpSpPr>
        <p:sp>
          <p:nvSpPr>
            <p:cNvPr id="141" name="Google Shape;141;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45;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6" name="Google Shape;146;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7" name="Google Shape;147;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8" name="Google Shape;148;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9" name="Google Shape;149;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0" name="Google Shape;150;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1" name="Google Shape;151;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2" name="Google Shape;152;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3" name="Google Shape;153;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54" name="Google Shape;154;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55" name="Google Shape;155;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6" name="Google Shape;156;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CH"/>
          </a:p>
        </p:txBody>
      </p:sp>
      <p:sp>
        <p:nvSpPr>
          <p:cNvPr id="157" name="Google Shape;157;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58"/>
        <p:cNvGrpSpPr/>
        <p:nvPr/>
      </p:nvGrpSpPr>
      <p:grpSpPr>
        <a:xfrm>
          <a:off x="0" y="0"/>
          <a:ext cx="0" cy="0"/>
          <a:chOff x="0" y="0"/>
          <a:chExt cx="0" cy="0"/>
        </a:xfrm>
      </p:grpSpPr>
      <p:sp>
        <p:nvSpPr>
          <p:cNvPr id="159" name="Google Shape;159;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60" name="Google Shape;160;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61" name="Google Shape;161;p5"/>
          <p:cNvGrpSpPr/>
          <p:nvPr/>
        </p:nvGrpSpPr>
        <p:grpSpPr>
          <a:xfrm>
            <a:off x="95351" y="1392509"/>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66" name="Google Shape;166;p5"/>
          <p:cNvGrpSpPr/>
          <p:nvPr/>
        </p:nvGrpSpPr>
        <p:grpSpPr>
          <a:xfrm>
            <a:off x="95351" y="4542984"/>
            <a:ext cx="7581691" cy="5901"/>
            <a:chOff x="1890075" y="5241175"/>
            <a:chExt cx="4240556" cy="257700"/>
          </a:xfrm>
        </p:grpSpPr>
        <p:sp>
          <p:nvSpPr>
            <p:cNvPr id="167" name="Google Shape;16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8" name="Google Shape;16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9" name="Google Shape;16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0" name="Google Shape;17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1" name="Google Shape;171;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72" name="Google Shape;172;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73" name="Google Shape;173;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74" name="Google Shape;174;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5" name="Google Shape;175;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6" name="Google Shape;176;p5"/>
          <p:cNvGrpSpPr/>
          <p:nvPr/>
        </p:nvGrpSpPr>
        <p:grpSpPr>
          <a:xfrm>
            <a:off x="95351" y="8200359"/>
            <a:ext cx="7581691" cy="5901"/>
            <a:chOff x="1890075" y="5241175"/>
            <a:chExt cx="4240556" cy="257700"/>
          </a:xfrm>
        </p:grpSpPr>
        <p:sp>
          <p:nvSpPr>
            <p:cNvPr id="177" name="Google Shape;17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8" name="Google Shape;17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9" name="Google Shape;17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80" name="Google Shape;18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81" name="Google Shape;181;p5"/>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82" name="Google Shape;182;p5"/>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83" name="Google Shape;183;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CH"/>
          </a:p>
        </p:txBody>
      </p:sp>
      <p:sp>
        <p:nvSpPr>
          <p:cNvPr id="184" name="Google Shape;184;p5"/>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85"/>
        <p:cNvGrpSpPr/>
        <p:nvPr/>
      </p:nvGrpSpPr>
      <p:grpSpPr>
        <a:xfrm>
          <a:off x="0" y="0"/>
          <a:ext cx="0" cy="0"/>
          <a:chOff x="0" y="0"/>
          <a:chExt cx="0" cy="0"/>
        </a:xfrm>
      </p:grpSpPr>
      <p:sp>
        <p:nvSpPr>
          <p:cNvPr id="186" name="Google Shape;186;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7" name="Google Shape;187;p6"/>
          <p:cNvGrpSpPr/>
          <p:nvPr/>
        </p:nvGrpSpPr>
        <p:grpSpPr>
          <a:xfrm>
            <a:off x="-16250" y="9048087"/>
            <a:ext cx="7804900" cy="1072407"/>
            <a:chOff x="-19118" y="4617750"/>
            <a:chExt cx="9182236" cy="548378"/>
          </a:xfrm>
        </p:grpSpPr>
        <p:sp>
          <p:nvSpPr>
            <p:cNvPr id="188" name="Google Shape;188;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txBody>
            <a:bodyPr/>
            <a:lstStyle/>
            <a:p>
              <a:endParaRPr lang="en-CH"/>
            </a:p>
          </p:txBody>
        </p:sp>
        <p:sp>
          <p:nvSpPr>
            <p:cNvPr id="189" name="Google Shape;189;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txBody>
            <a:bodyPr/>
            <a:lstStyle/>
            <a:p>
              <a:endParaRPr lang="en-CH"/>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9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328"/>
        <p:cNvGrpSpPr/>
        <p:nvPr/>
      </p:nvGrpSpPr>
      <p:grpSpPr>
        <a:xfrm>
          <a:off x="0" y="0"/>
          <a:ext cx="0" cy="0"/>
          <a:chOff x="0" y="0"/>
          <a:chExt cx="0" cy="0"/>
        </a:xfrm>
      </p:grpSpPr>
      <p:grpSp>
        <p:nvGrpSpPr>
          <p:cNvPr id="331" name="Google Shape;331;p12"/>
          <p:cNvGrpSpPr/>
          <p:nvPr/>
        </p:nvGrpSpPr>
        <p:grpSpPr>
          <a:xfrm>
            <a:off x="95352" y="1021945"/>
            <a:ext cx="7581691" cy="5901"/>
            <a:chOff x="1890075" y="5241175"/>
            <a:chExt cx="4240556" cy="257700"/>
          </a:xfrm>
        </p:grpSpPr>
        <p:sp>
          <p:nvSpPr>
            <p:cNvPr id="332" name="Google Shape;332;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3" name="Google Shape;333;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4" name="Google Shape;334;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5" name="Google Shape;335;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336" name="Google Shape;336;p12"/>
          <p:cNvGrpSpPr/>
          <p:nvPr/>
        </p:nvGrpSpPr>
        <p:grpSpPr>
          <a:xfrm>
            <a:off x="95351" y="4542984"/>
            <a:ext cx="7581691" cy="5901"/>
            <a:chOff x="1890075" y="5241175"/>
            <a:chExt cx="4240556" cy="257700"/>
          </a:xfrm>
        </p:grpSpPr>
        <p:sp>
          <p:nvSpPr>
            <p:cNvPr id="337" name="Google Shape;337;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8" name="Google Shape;338;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9" name="Google Shape;339;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40" name="Google Shape;340;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341" name="Google Shape;341;p12"/>
          <p:cNvSpPr/>
          <p:nvPr/>
        </p:nvSpPr>
        <p:spPr>
          <a:xfrm>
            <a:off x="432000" y="2073954"/>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000000"/>
                </a:solidFill>
                <a:latin typeface="Google Sans"/>
                <a:ea typeface="Google Sans"/>
                <a:cs typeface="Google Sans"/>
                <a:sym typeface="Google Sans"/>
              </a:rPr>
              <a:t>Goal</a:t>
            </a:r>
            <a:endParaRPr b="1" dirty="0">
              <a:solidFill>
                <a:srgbClr val="000000"/>
              </a:solidFill>
              <a:latin typeface="Google Sans"/>
              <a:ea typeface="Google Sans"/>
              <a:cs typeface="Google Sans"/>
              <a:sym typeface="Google Sans"/>
            </a:endParaRPr>
          </a:p>
        </p:txBody>
      </p:sp>
      <p:sp>
        <p:nvSpPr>
          <p:cNvPr id="342" name="Google Shape;342;p12"/>
          <p:cNvSpPr/>
          <p:nvPr/>
        </p:nvSpPr>
        <p:spPr>
          <a:xfrm>
            <a:off x="432000" y="1186549"/>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000000"/>
                </a:solidFill>
                <a:latin typeface="Google Sans"/>
                <a:ea typeface="Google Sans"/>
                <a:cs typeface="Google Sans"/>
                <a:sym typeface="Google Sans"/>
              </a:rPr>
              <a:t>Problem</a:t>
            </a:r>
            <a:endParaRPr b="1" dirty="0">
              <a:solidFill>
                <a:srgbClr val="000000"/>
              </a:solidFill>
              <a:latin typeface="Google Sans"/>
              <a:ea typeface="Google Sans"/>
              <a:cs typeface="Google Sans"/>
              <a:sym typeface="Google Sans"/>
            </a:endParaRPr>
          </a:p>
        </p:txBody>
      </p:sp>
      <p:sp>
        <p:nvSpPr>
          <p:cNvPr id="343" name="Google Shape;343;p12"/>
          <p:cNvSpPr/>
          <p:nvPr/>
        </p:nvSpPr>
        <p:spPr>
          <a:xfrm>
            <a:off x="432000" y="2787515"/>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000000"/>
                </a:solidFill>
                <a:latin typeface="Google Sans"/>
                <a:ea typeface="Google Sans"/>
                <a:cs typeface="Google Sans"/>
                <a:sym typeface="Google Sans"/>
              </a:rPr>
              <a:t>Solution</a:t>
            </a:r>
            <a:endParaRPr b="1" dirty="0">
              <a:solidFill>
                <a:srgbClr val="000000"/>
              </a:solidFill>
              <a:latin typeface="Google Sans"/>
              <a:ea typeface="Google Sans"/>
              <a:cs typeface="Google Sans"/>
              <a:sym typeface="Google Sans"/>
            </a:endParaRPr>
          </a:p>
        </p:txBody>
      </p:sp>
      <p:sp>
        <p:nvSpPr>
          <p:cNvPr id="344" name="Google Shape;344;p12"/>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345" name="Google Shape;345;p12"/>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346" name="Google Shape;346;p12"/>
          <p:cNvGrpSpPr/>
          <p:nvPr/>
        </p:nvGrpSpPr>
        <p:grpSpPr>
          <a:xfrm>
            <a:off x="95351" y="8200359"/>
            <a:ext cx="7581691" cy="5901"/>
            <a:chOff x="1890075" y="5241175"/>
            <a:chExt cx="4240556" cy="257700"/>
          </a:xfrm>
        </p:grpSpPr>
        <p:sp>
          <p:nvSpPr>
            <p:cNvPr id="347" name="Google Shape;347;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48" name="Google Shape;348;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49" name="Google Shape;349;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50" name="Google Shape;350;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351" name="Google Shape;351;p12"/>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CH"/>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91"/>
        <p:cNvGrpSpPr/>
        <p:nvPr/>
      </p:nvGrpSpPr>
      <p:grpSpPr>
        <a:xfrm>
          <a:off x="0" y="0"/>
          <a:ext cx="0" cy="0"/>
          <a:chOff x="0" y="0"/>
          <a:chExt cx="0" cy="0"/>
        </a:xfrm>
      </p:grpSpPr>
      <p:sp>
        <p:nvSpPr>
          <p:cNvPr id="192" name="Google Shape;192;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93" name="Google Shape;193;p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194" name="Google Shape;194;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5" name="Google Shape;195;p8"/>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grpSp>
        <p:nvGrpSpPr>
          <p:cNvPr id="461" name="Google Shape;461;p21"/>
          <p:cNvGrpSpPr/>
          <p:nvPr/>
        </p:nvGrpSpPr>
        <p:grpSpPr>
          <a:xfrm>
            <a:off x="188699" y="132690"/>
            <a:ext cx="7045478" cy="771300"/>
            <a:chOff x="188699" y="665125"/>
            <a:chExt cx="7045478" cy="771300"/>
          </a:xfrm>
        </p:grpSpPr>
        <p:sp>
          <p:nvSpPr>
            <p:cNvPr id="462" name="Google Shape;462;p21"/>
            <p:cNvSpPr txBox="1"/>
            <p:nvPr/>
          </p:nvSpPr>
          <p:spPr>
            <a:xfrm>
              <a:off x="188699" y="665125"/>
              <a:ext cx="5818561" cy="771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p>
              <a:pPr marL="0" lvl="0" indent="0" algn="l" rtl="0">
                <a:lnSpc>
                  <a:spcPct val="95000"/>
                </a:lnSpc>
                <a:spcBef>
                  <a:spcPts val="0"/>
                </a:spcBef>
                <a:spcAft>
                  <a:spcPts val="0"/>
                </a:spcAft>
                <a:buNone/>
              </a:pPr>
              <a:r>
                <a:rPr lang="en" sz="1600" b="1" dirty="0">
                  <a:latin typeface="Google Sans SemiBold"/>
                  <a:ea typeface="Google Sans SemiBold"/>
                  <a:cs typeface="Google Sans SemiBold"/>
                  <a:sym typeface="Google Sans SemiBold"/>
                </a:rPr>
                <a:t>Employee Retention at Salifort Motors</a:t>
              </a:r>
              <a:endParaRPr sz="1900" dirty="0">
                <a:solidFill>
                  <a:srgbClr val="000000"/>
                </a:solidFill>
                <a:latin typeface="Google Sans SemiBold"/>
                <a:ea typeface="Google Sans SemiBold"/>
                <a:cs typeface="Google Sans SemiBold"/>
                <a:sym typeface="Google Sans SemiBold"/>
              </a:endParaRPr>
            </a:p>
          </p:txBody>
        </p:sp>
        <p:sp>
          <p:nvSpPr>
            <p:cNvPr id="463" name="Google Shape;463;p21"/>
            <p:cNvSpPr txBox="1"/>
            <p:nvPr/>
          </p:nvSpPr>
          <p:spPr>
            <a:xfrm>
              <a:off x="188699" y="1036225"/>
              <a:ext cx="7045478"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dirty="0">
                  <a:latin typeface="Roboto"/>
                  <a:ea typeface="Roboto"/>
                  <a:cs typeface="Roboto"/>
                  <a:sym typeface="Roboto"/>
                </a:rPr>
                <a:t>What is driving employees to leave the company and how to retain them?</a:t>
              </a:r>
              <a:endParaRPr dirty="0">
                <a:solidFill>
                  <a:srgbClr val="000000"/>
                </a:solidFill>
                <a:latin typeface="Roboto"/>
                <a:ea typeface="Roboto"/>
                <a:cs typeface="Roboto"/>
                <a:sym typeface="Roboto"/>
              </a:endParaRPr>
            </a:p>
          </p:txBody>
        </p:sp>
      </p:grpSp>
      <p:sp>
        <p:nvSpPr>
          <p:cNvPr id="2" name="TextBox 1">
            <a:extLst>
              <a:ext uri="{FF2B5EF4-FFF2-40B4-BE49-F238E27FC236}">
                <a16:creationId xmlns:a16="http://schemas.microsoft.com/office/drawing/2014/main" id="{A2FECA7C-D600-A8C3-BB1A-604C73B2D933}"/>
              </a:ext>
            </a:extLst>
          </p:cNvPr>
          <p:cNvSpPr txBox="1"/>
          <p:nvPr/>
        </p:nvSpPr>
        <p:spPr>
          <a:xfrm>
            <a:off x="2120191" y="1110560"/>
            <a:ext cx="4953966" cy="769441"/>
          </a:xfrm>
          <a:prstGeom prst="rect">
            <a:avLst/>
          </a:prstGeom>
          <a:noFill/>
        </p:spPr>
        <p:txBody>
          <a:bodyPr wrap="square" rtlCol="0">
            <a:spAutoFit/>
          </a:bodyPr>
          <a:lstStyle/>
          <a:p>
            <a:r>
              <a:rPr lang="en-GB" sz="1100" dirty="0">
                <a:latin typeface="Roboto" panose="02000000000000000000" pitchFamily="2" charset="0"/>
                <a:ea typeface="Roboto" panose="02000000000000000000" pitchFamily="2" charset="0"/>
                <a:cs typeface="Roboto" panose="02000000000000000000" pitchFamily="2" charset="0"/>
              </a:rPr>
              <a:t>There is currently a high employee turnover at Salifort Motors. Salifort’s leadership wants to know why employees are leaving and find ways to improve employee retention so as to mitigate costs associated with employee turnover.</a:t>
            </a:r>
          </a:p>
        </p:txBody>
      </p:sp>
      <p:sp>
        <p:nvSpPr>
          <p:cNvPr id="3" name="TextBox 2">
            <a:extLst>
              <a:ext uri="{FF2B5EF4-FFF2-40B4-BE49-F238E27FC236}">
                <a16:creationId xmlns:a16="http://schemas.microsoft.com/office/drawing/2014/main" id="{C3ADDA63-FA03-9DF0-5A39-C5B7C073147C}"/>
              </a:ext>
            </a:extLst>
          </p:cNvPr>
          <p:cNvSpPr txBox="1"/>
          <p:nvPr/>
        </p:nvSpPr>
        <p:spPr>
          <a:xfrm>
            <a:off x="2120191" y="1994249"/>
            <a:ext cx="4953966" cy="600164"/>
          </a:xfrm>
          <a:prstGeom prst="rect">
            <a:avLst/>
          </a:prstGeom>
          <a:noFill/>
        </p:spPr>
        <p:txBody>
          <a:bodyPr wrap="square" rtlCol="0">
            <a:spAutoFit/>
          </a:bodyPr>
          <a:lstStyle/>
          <a:p>
            <a:r>
              <a:rPr lang="en-GB" sz="1100" dirty="0">
                <a:latin typeface="Roboto" panose="02000000000000000000" pitchFamily="2" charset="0"/>
                <a:ea typeface="Roboto" panose="02000000000000000000" pitchFamily="2" charset="0"/>
                <a:cs typeface="Roboto" panose="02000000000000000000" pitchFamily="2" charset="0"/>
              </a:rPr>
              <a:t>The goal of this project is to determine what factors are causing employees to leave, and to develop a model that predicts whether an employee is likely to leave the company.</a:t>
            </a:r>
            <a:endParaRPr lang="en-CH" sz="1100" dirty="0">
              <a:latin typeface="Roboto" panose="02000000000000000000" pitchFamily="2" charset="0"/>
              <a:ea typeface="Roboto" panose="02000000000000000000" pitchFamily="2" charset="0"/>
              <a:cs typeface="Roboto" panose="02000000000000000000" pitchFamily="2" charset="0"/>
            </a:endParaRPr>
          </a:p>
        </p:txBody>
      </p:sp>
      <p:sp>
        <p:nvSpPr>
          <p:cNvPr id="4" name="TextBox 3">
            <a:extLst>
              <a:ext uri="{FF2B5EF4-FFF2-40B4-BE49-F238E27FC236}">
                <a16:creationId xmlns:a16="http://schemas.microsoft.com/office/drawing/2014/main" id="{77CB6988-C325-90AA-1D77-0079FD4F522A}"/>
              </a:ext>
            </a:extLst>
          </p:cNvPr>
          <p:cNvSpPr txBox="1"/>
          <p:nvPr/>
        </p:nvSpPr>
        <p:spPr>
          <a:xfrm>
            <a:off x="2120191" y="2706890"/>
            <a:ext cx="4953966" cy="1785104"/>
          </a:xfrm>
          <a:prstGeom prst="rect">
            <a:avLst/>
          </a:prstGeom>
          <a:noFill/>
        </p:spPr>
        <p:txBody>
          <a:bodyPr wrap="square" rtlCol="0">
            <a:spAutoFit/>
          </a:bodyPr>
          <a:lstStyle/>
          <a:p>
            <a:r>
              <a:rPr lang="en-GB" sz="1100" dirty="0">
                <a:latin typeface="Roboto" panose="02000000000000000000" pitchFamily="2" charset="0"/>
                <a:ea typeface="Roboto" panose="02000000000000000000" pitchFamily="2" charset="0"/>
                <a:cs typeface="Roboto" panose="02000000000000000000" pitchFamily="2" charset="0"/>
              </a:rPr>
              <a:t>The survey data was analysed, and several machine learning models were trained on the data. A decision tree model was selected as the final model.</a:t>
            </a:r>
          </a:p>
          <a:p>
            <a:endParaRPr lang="en-GB" sz="1100" dirty="0">
              <a:latin typeface="Roboto" panose="02000000000000000000" pitchFamily="2" charset="0"/>
              <a:ea typeface="Roboto" panose="02000000000000000000" pitchFamily="2" charset="0"/>
              <a:cs typeface="Roboto" panose="02000000000000000000" pitchFamily="2" charset="0"/>
            </a:endParaRPr>
          </a:p>
          <a:p>
            <a:r>
              <a:rPr lang="en-GB" sz="1100" dirty="0">
                <a:latin typeface="Roboto" panose="02000000000000000000" pitchFamily="2" charset="0"/>
                <a:ea typeface="Roboto" panose="02000000000000000000" pitchFamily="2" charset="0"/>
                <a:cs typeface="Roboto" panose="02000000000000000000" pitchFamily="2" charset="0"/>
              </a:rPr>
              <a:t>The data analysis and model show that the satisfaction level reported by the employees through the survey was the strongest indicator for whether an employee is going to leave the company.</a:t>
            </a:r>
          </a:p>
          <a:p>
            <a:endParaRPr lang="en-GB" sz="1100" dirty="0">
              <a:latin typeface="Roboto" panose="02000000000000000000" pitchFamily="2" charset="0"/>
              <a:ea typeface="Roboto" panose="02000000000000000000" pitchFamily="2" charset="0"/>
              <a:cs typeface="Roboto" panose="02000000000000000000" pitchFamily="2" charset="0"/>
            </a:endParaRPr>
          </a:p>
          <a:p>
            <a:r>
              <a:rPr lang="en-GB" sz="1100" dirty="0">
                <a:latin typeface="Roboto" panose="02000000000000000000" pitchFamily="2" charset="0"/>
                <a:ea typeface="Roboto" panose="02000000000000000000" pitchFamily="2" charset="0"/>
                <a:cs typeface="Roboto" panose="02000000000000000000" pitchFamily="2" charset="0"/>
              </a:rPr>
              <a:t>The decision tree model achieved high performance scores, with an F1 score of 0.95. It can be therefore used to predict whether an employee is likely to leave the company.</a:t>
            </a:r>
          </a:p>
        </p:txBody>
      </p:sp>
      <p:pic>
        <p:nvPicPr>
          <p:cNvPr id="6" name="Picture 5">
            <a:extLst>
              <a:ext uri="{FF2B5EF4-FFF2-40B4-BE49-F238E27FC236}">
                <a16:creationId xmlns:a16="http://schemas.microsoft.com/office/drawing/2014/main" id="{2D2C88F4-6E52-5F87-0885-ADC8DEEEF15C}"/>
              </a:ext>
            </a:extLst>
          </p:cNvPr>
          <p:cNvPicPr>
            <a:picLocks noChangeAspect="1"/>
          </p:cNvPicPr>
          <p:nvPr/>
        </p:nvPicPr>
        <p:blipFill>
          <a:blip r:embed="rId3"/>
          <a:stretch>
            <a:fillRect/>
          </a:stretch>
        </p:blipFill>
        <p:spPr>
          <a:xfrm>
            <a:off x="4632218" y="4708932"/>
            <a:ext cx="2868737" cy="1942142"/>
          </a:xfrm>
          <a:prstGeom prst="rect">
            <a:avLst/>
          </a:prstGeom>
        </p:spPr>
      </p:pic>
      <p:sp>
        <p:nvSpPr>
          <p:cNvPr id="7" name="TextBox 6">
            <a:extLst>
              <a:ext uri="{FF2B5EF4-FFF2-40B4-BE49-F238E27FC236}">
                <a16:creationId xmlns:a16="http://schemas.microsoft.com/office/drawing/2014/main" id="{D684CE2E-AD0F-7C0D-DE4C-A90101441BC8}"/>
              </a:ext>
            </a:extLst>
          </p:cNvPr>
          <p:cNvSpPr txBox="1"/>
          <p:nvPr/>
        </p:nvSpPr>
        <p:spPr>
          <a:xfrm>
            <a:off x="322811" y="5029200"/>
            <a:ext cx="4309407" cy="2800767"/>
          </a:xfrm>
          <a:prstGeom prst="rect">
            <a:avLst/>
          </a:prstGeom>
          <a:noFill/>
        </p:spPr>
        <p:txBody>
          <a:bodyPr wrap="square" rtlCol="0">
            <a:spAutoFit/>
          </a:bodyPr>
          <a:lstStyle/>
          <a:p>
            <a:r>
              <a:rPr lang="en-GB" sz="1100" dirty="0">
                <a:latin typeface="Roboto" panose="02000000000000000000" pitchFamily="2" charset="0"/>
                <a:ea typeface="Roboto" panose="02000000000000000000" pitchFamily="2" charset="0"/>
                <a:cs typeface="Roboto" panose="02000000000000000000" pitchFamily="2" charset="0"/>
              </a:rPr>
              <a:t>The reported satisfaction level was on average 0.67 for the employees who have stayed, while it was only 0.44 for employees who left.</a:t>
            </a:r>
          </a:p>
          <a:p>
            <a:endParaRPr lang="en-GB" sz="1100" dirty="0">
              <a:latin typeface="Roboto" panose="02000000000000000000" pitchFamily="2" charset="0"/>
              <a:ea typeface="Roboto" panose="02000000000000000000" pitchFamily="2" charset="0"/>
              <a:cs typeface="Roboto" panose="02000000000000000000" pitchFamily="2" charset="0"/>
            </a:endParaRPr>
          </a:p>
          <a:p>
            <a:r>
              <a:rPr lang="en-GB" sz="1100" dirty="0">
                <a:latin typeface="Roboto" panose="02000000000000000000" pitchFamily="2" charset="0"/>
                <a:ea typeface="Roboto" panose="02000000000000000000" pitchFamily="2" charset="0"/>
                <a:cs typeface="Roboto" panose="02000000000000000000" pitchFamily="2" charset="0"/>
              </a:rPr>
              <a:t>The satisfaction level is closely related to the number of projects. Employees who contributed to between 3 and 5 projects were more likely to stay compared to employees who contributed to a number of projects outside that range.</a:t>
            </a:r>
          </a:p>
          <a:p>
            <a:endParaRPr lang="en-GB" sz="1100" dirty="0">
              <a:latin typeface="Roboto" panose="02000000000000000000" pitchFamily="2" charset="0"/>
              <a:ea typeface="Roboto" panose="02000000000000000000" pitchFamily="2" charset="0"/>
              <a:cs typeface="Roboto" panose="02000000000000000000" pitchFamily="2" charset="0"/>
            </a:endParaRPr>
          </a:p>
          <a:p>
            <a:r>
              <a:rPr lang="en-GB" sz="1100" dirty="0">
                <a:latin typeface="Roboto" panose="02000000000000000000" pitchFamily="2" charset="0"/>
                <a:ea typeface="Roboto" panose="02000000000000000000" pitchFamily="2" charset="0"/>
                <a:cs typeface="Roboto" panose="02000000000000000000" pitchFamily="2" charset="0"/>
              </a:rPr>
              <a:t>The time spent at the company is also an indicator as to whether an employee is likely to leave: employees who stayed more than two years were more likely to leave.</a:t>
            </a:r>
          </a:p>
          <a:p>
            <a:endParaRPr lang="en-GB" sz="1100" dirty="0">
              <a:latin typeface="Roboto" panose="02000000000000000000" pitchFamily="2" charset="0"/>
              <a:ea typeface="Roboto" panose="02000000000000000000" pitchFamily="2" charset="0"/>
              <a:cs typeface="Roboto" panose="02000000000000000000" pitchFamily="2" charset="0"/>
            </a:endParaRPr>
          </a:p>
          <a:p>
            <a:r>
              <a:rPr lang="en-GB" sz="1100" dirty="0">
                <a:latin typeface="Roboto" panose="02000000000000000000" pitchFamily="2" charset="0"/>
                <a:ea typeface="Roboto" panose="02000000000000000000" pitchFamily="2" charset="0"/>
                <a:cs typeface="Roboto" panose="02000000000000000000" pitchFamily="2" charset="0"/>
              </a:rPr>
              <a:t>Salary appears to have a smaller influence, but it could be used as an incentive to retain employees who are identified as potentially leaving.</a:t>
            </a:r>
          </a:p>
        </p:txBody>
      </p:sp>
      <p:pic>
        <p:nvPicPr>
          <p:cNvPr id="8" name="Picture 7">
            <a:extLst>
              <a:ext uri="{FF2B5EF4-FFF2-40B4-BE49-F238E27FC236}">
                <a16:creationId xmlns:a16="http://schemas.microsoft.com/office/drawing/2014/main" id="{4E618254-D0EF-DC42-435F-246B8C84EB48}"/>
              </a:ext>
            </a:extLst>
          </p:cNvPr>
          <p:cNvPicPr>
            <a:picLocks noChangeAspect="1"/>
          </p:cNvPicPr>
          <p:nvPr/>
        </p:nvPicPr>
        <p:blipFill>
          <a:blip r:embed="rId4"/>
          <a:stretch>
            <a:fillRect/>
          </a:stretch>
        </p:blipFill>
        <p:spPr>
          <a:xfrm>
            <a:off x="4643125" y="6651074"/>
            <a:ext cx="2857830" cy="1942143"/>
          </a:xfrm>
          <a:prstGeom prst="rect">
            <a:avLst/>
          </a:prstGeom>
        </p:spPr>
      </p:pic>
      <p:sp>
        <p:nvSpPr>
          <p:cNvPr id="9" name="TextBox 8">
            <a:extLst>
              <a:ext uri="{FF2B5EF4-FFF2-40B4-BE49-F238E27FC236}">
                <a16:creationId xmlns:a16="http://schemas.microsoft.com/office/drawing/2014/main" id="{1A4A610F-4E38-0675-C366-4407EC394CF6}"/>
              </a:ext>
            </a:extLst>
          </p:cNvPr>
          <p:cNvSpPr txBox="1"/>
          <p:nvPr/>
        </p:nvSpPr>
        <p:spPr>
          <a:xfrm>
            <a:off x="322809" y="8648437"/>
            <a:ext cx="7198131" cy="1277273"/>
          </a:xfrm>
          <a:prstGeom prst="rect">
            <a:avLst/>
          </a:prstGeom>
          <a:noFill/>
        </p:spPr>
        <p:txBody>
          <a:bodyPr wrap="square" rtlCol="0">
            <a:spAutoFit/>
          </a:bodyPr>
          <a:lstStyle/>
          <a:p>
            <a:r>
              <a:rPr lang="en-GB" sz="1100" dirty="0">
                <a:latin typeface="Roboto" panose="02000000000000000000" pitchFamily="2" charset="0"/>
                <a:ea typeface="Roboto" panose="02000000000000000000" pitchFamily="2" charset="0"/>
                <a:cs typeface="Roboto" panose="02000000000000000000" pitchFamily="2" charset="0"/>
              </a:rPr>
              <a:t>The company should conduct a yearly survey to assess employee satisfaction levels in order to identify those who might be at risk of leaving. Particular attention should be given to employees who have been at the company for at least two years.</a:t>
            </a:r>
          </a:p>
          <a:p>
            <a:endParaRPr lang="en-GB" sz="1100" dirty="0">
              <a:latin typeface="Roboto" panose="02000000000000000000" pitchFamily="2" charset="0"/>
              <a:ea typeface="Roboto" panose="02000000000000000000" pitchFamily="2" charset="0"/>
              <a:cs typeface="Roboto" panose="02000000000000000000" pitchFamily="2" charset="0"/>
            </a:endParaRPr>
          </a:p>
          <a:p>
            <a:r>
              <a:rPr lang="en-GB" sz="1100" dirty="0">
                <a:latin typeface="Roboto" panose="02000000000000000000" pitchFamily="2" charset="0"/>
                <a:ea typeface="Roboto" panose="02000000000000000000" pitchFamily="2" charset="0"/>
                <a:cs typeface="Roboto" panose="02000000000000000000" pitchFamily="2" charset="0"/>
              </a:rPr>
              <a:t>To improve employee retention, the company should ensure that employees are contributing to at least 3 projects, but no more than 5. The company should also investigate in more detail the factors that contribute to the satisfaction level.</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TotalTime>
  <Words>392</Words>
  <Application>Microsoft Office PowerPoint</Application>
  <PresentationFormat>Custom</PresentationFormat>
  <Paragraphs>19</Paragraphs>
  <Slides>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vt:i4>
      </vt:variant>
    </vt:vector>
  </HeadingPairs>
  <TitlesOfParts>
    <vt:vector size="11" baseType="lpstr">
      <vt:lpstr>Google Sans SemiBold</vt:lpstr>
      <vt:lpstr>Work Sans</vt:lpstr>
      <vt:lpstr>PT Sans Narrow</vt:lpstr>
      <vt:lpstr>Arial</vt:lpstr>
      <vt:lpstr>Roboto</vt:lpstr>
      <vt:lpstr>Lato</vt:lpstr>
      <vt:lpstr>Calibri</vt:lpstr>
      <vt:lpstr>Google Sans</vt:lpstr>
      <vt:lpstr>Simple Light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David FitzGerald</cp:lastModifiedBy>
  <cp:revision>3</cp:revision>
  <dcterms:modified xsi:type="dcterms:W3CDTF">2026-06-05T09:53:30Z</dcterms:modified>
</cp:coreProperties>
</file>